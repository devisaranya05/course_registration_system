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ustom.xml" ContentType="application/vnd.openxmlformats-officedocument.custom-propertie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56" r:id="rId2"/>
    <p:sldId id="257" r:id="rId3"/>
    <p:sldId id="258" r:id="rId4"/>
    <p:sldId id="259" r:id="rId5"/>
    <p:sldId id="274" r:id="rId6"/>
    <p:sldId id="278" r:id="rId7"/>
    <p:sldId id="280" r:id="rId8"/>
    <p:sldId id="283" r:id="rId9"/>
    <p:sldId id="286" r:id="rId10"/>
    <p:sldId id="285" r:id="rId11"/>
    <p:sldId id="284" r:id="rId12"/>
    <p:sldId id="271" r:id="rId13"/>
    <p:sldId id="281" r:id="rId14"/>
    <p:sldId id="287" r:id="rId15"/>
    <p:sldId id="289" r:id="rId16"/>
    <p:sldId id="299" r:id="rId17"/>
    <p:sldId id="292" r:id="rId18"/>
    <p:sldId id="300" r:id="rId19"/>
    <p:sldId id="301" r:id="rId20"/>
    <p:sldId id="288" r:id="rId21"/>
    <p:sldId id="293" r:id="rId22"/>
    <p:sldId id="294" r:id="rId23"/>
    <p:sldId id="296" r:id="rId24"/>
    <p:sldId id="298" r:id="rId25"/>
    <p:sldId id="295" r:id="rId26"/>
    <p:sldId id="297" r:id="rId27"/>
    <p:sldId id="290" r:id="rId28"/>
    <p:sldId id="291" r:id="rId29"/>
    <p:sldId id="268" r:id="rId30"/>
    <p:sldId id="269" r:id="rId31"/>
  </p:sldIdLst>
  <p:sldSz cx="10058400" cy="7772400"/>
  <p:notesSz cx="10058400" cy="7772400"/>
  <p:defaultTextStyle>
    <a:defPPr>
      <a:defRPr kern="0"/>
    </a:defPPr>
  </p:defaultTextStyle>
  <p:extLst>
    <p:ext uri="{EFAFB233-063F-42B5-8137-9DF3F51BA10A}">
      <p15:sldGuideLst xmlns=""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7122" autoAdjust="0"/>
    <p:restoredTop sz="94660"/>
  </p:normalViewPr>
  <p:slideViewPr>
    <p:cSldViewPr>
      <p:cViewPr varScale="1">
        <p:scale>
          <a:sx n="72" d="100"/>
          <a:sy n="72" d="100"/>
        </p:scale>
        <p:origin x="-1488" y="-101"/>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pPr/>
              <a:t>04-04-2026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pPr/>
              <a:t>‹#›</a:t>
            </a:fld>
            <a:endParaRPr lang="en-IN"/>
          </a:p>
        </p:txBody>
      </p:sp>
    </p:spTree>
    <p:extLst>
      <p:ext uri="{BB962C8B-B14F-4D97-AF65-F5344CB8AC3E}">
        <p14:creationId xmlns=""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EFA07A5-14C6-E585-8655-9D9D52E50E7C}"/>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1AA451EA-1440-E913-BE4A-B614B423C861}"/>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A02B861F-0E31-A9FE-3DE3-C88AA9FDC23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FBB3FD6E-6CD7-73E7-5843-F5D2AC9D0C79}"/>
              </a:ext>
            </a:extLst>
          </p:cNvPr>
          <p:cNvSpPr>
            <a:spLocks noGrp="1"/>
          </p:cNvSpPr>
          <p:nvPr>
            <p:ph type="sldNum" sz="quarter" idx="10"/>
          </p:nvPr>
        </p:nvSpPr>
        <p:spPr/>
        <p:txBody>
          <a:bodyPr/>
          <a:lstStyle/>
          <a:p>
            <a:fld id="{67E471F2-2083-493A-8C9E-53209FFA1EC8}" type="slidenum">
              <a:rPr lang="en-IN" smtClean="0"/>
              <a:pPr/>
              <a:t>7</a:t>
            </a:fld>
            <a:endParaRPr lang="en-IN"/>
          </a:p>
        </p:txBody>
      </p:sp>
    </p:spTree>
    <p:extLst>
      <p:ext uri="{BB962C8B-B14F-4D97-AF65-F5344CB8AC3E}">
        <p14:creationId xmlns="" xmlns:p14="http://schemas.microsoft.com/office/powerpoint/2010/main" val="3766118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4DD6944-C75D-642A-33EC-861C4C9EE3B5}"/>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48B92471-DA30-4B37-FCA6-6EF20124DBA0}"/>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0D1FE530-0FC2-EC25-4907-8124FE661A5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803AE0AE-6066-70F2-58D0-DE497EDE96FC}"/>
              </a:ext>
            </a:extLst>
          </p:cNvPr>
          <p:cNvSpPr>
            <a:spLocks noGrp="1"/>
          </p:cNvSpPr>
          <p:nvPr>
            <p:ph type="sldNum" sz="quarter" idx="10"/>
          </p:nvPr>
        </p:nvSpPr>
        <p:spPr/>
        <p:txBody>
          <a:bodyPr/>
          <a:lstStyle/>
          <a:p>
            <a:fld id="{67E471F2-2083-493A-8C9E-53209FFA1EC8}" type="slidenum">
              <a:rPr lang="en-IN" smtClean="0"/>
              <a:pPr/>
              <a:t>8</a:t>
            </a:fld>
            <a:endParaRPr lang="en-IN"/>
          </a:p>
        </p:txBody>
      </p:sp>
    </p:spTree>
    <p:extLst>
      <p:ext uri="{BB962C8B-B14F-4D97-AF65-F5344CB8AC3E}">
        <p14:creationId xmlns="" xmlns:p14="http://schemas.microsoft.com/office/powerpoint/2010/main" val="3637059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B7139B1-A475-4CBB-3C79-9D26E5A866E5}"/>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681C7ED2-D36F-F380-B914-E293551BC25B}"/>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59291147-730F-8489-F314-EBBEE6FC15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CB461C2B-CF90-5661-FD6B-4743F3CA884B}"/>
              </a:ext>
            </a:extLst>
          </p:cNvPr>
          <p:cNvSpPr>
            <a:spLocks noGrp="1"/>
          </p:cNvSpPr>
          <p:nvPr>
            <p:ph type="sldNum" sz="quarter" idx="10"/>
          </p:nvPr>
        </p:nvSpPr>
        <p:spPr/>
        <p:txBody>
          <a:bodyPr/>
          <a:lstStyle/>
          <a:p>
            <a:fld id="{67E471F2-2083-493A-8C9E-53209FFA1EC8}" type="slidenum">
              <a:rPr lang="en-IN" smtClean="0"/>
              <a:pPr/>
              <a:t>9</a:t>
            </a:fld>
            <a:endParaRPr lang="en-IN"/>
          </a:p>
        </p:txBody>
      </p:sp>
    </p:spTree>
    <p:extLst>
      <p:ext uri="{BB962C8B-B14F-4D97-AF65-F5344CB8AC3E}">
        <p14:creationId xmlns="" xmlns:p14="http://schemas.microsoft.com/office/powerpoint/2010/main" val="16882209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B8C70F2-0EF9-0550-A72E-404207C35D71}"/>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D0700AA8-577A-B5F3-39C0-0D9C6D252B00}"/>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83A2C486-2F3A-630C-86E2-8D8A883F7AE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950BFAA6-56A9-3BDB-EAC1-346BC26C210F}"/>
              </a:ext>
            </a:extLst>
          </p:cNvPr>
          <p:cNvSpPr>
            <a:spLocks noGrp="1"/>
          </p:cNvSpPr>
          <p:nvPr>
            <p:ph type="sldNum" sz="quarter" idx="10"/>
          </p:nvPr>
        </p:nvSpPr>
        <p:spPr/>
        <p:txBody>
          <a:bodyPr/>
          <a:lstStyle/>
          <a:p>
            <a:fld id="{67E471F2-2083-493A-8C9E-53209FFA1EC8}" type="slidenum">
              <a:rPr lang="en-IN" smtClean="0"/>
              <a:pPr/>
              <a:t>10</a:t>
            </a:fld>
            <a:endParaRPr lang="en-IN"/>
          </a:p>
        </p:txBody>
      </p:sp>
    </p:spTree>
    <p:extLst>
      <p:ext uri="{BB962C8B-B14F-4D97-AF65-F5344CB8AC3E}">
        <p14:creationId xmlns="" xmlns:p14="http://schemas.microsoft.com/office/powerpoint/2010/main" val="1643100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96C5139-1AFF-D3A0-DDED-EC44904EB7B9}"/>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A6ACAA4A-8CBD-6631-C71D-AC4F63D9D9C1}"/>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5670C2C8-43BC-835F-52A1-5BF2FAEB5E9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8BC6ACFE-808B-4C46-05B5-18378E07F9DF}"/>
              </a:ext>
            </a:extLst>
          </p:cNvPr>
          <p:cNvSpPr>
            <a:spLocks noGrp="1"/>
          </p:cNvSpPr>
          <p:nvPr>
            <p:ph type="sldNum" sz="quarter" idx="10"/>
          </p:nvPr>
        </p:nvSpPr>
        <p:spPr/>
        <p:txBody>
          <a:bodyPr/>
          <a:lstStyle/>
          <a:p>
            <a:fld id="{67E471F2-2083-493A-8C9E-53209FFA1EC8}" type="slidenum">
              <a:rPr lang="en-IN" smtClean="0"/>
              <a:pPr/>
              <a:t>11</a:t>
            </a:fld>
            <a:endParaRPr lang="en-IN"/>
          </a:p>
        </p:txBody>
      </p:sp>
    </p:spTree>
    <p:extLst>
      <p:ext uri="{BB962C8B-B14F-4D97-AF65-F5344CB8AC3E}">
        <p14:creationId xmlns="" xmlns:p14="http://schemas.microsoft.com/office/powerpoint/2010/main" val="10988549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7E471F2-2083-493A-8C9E-53209FFA1EC8}" type="slidenum">
              <a:rPr lang="en-IN" smtClean="0"/>
              <a:pPr/>
              <a:t>12</a:t>
            </a:fld>
            <a:endParaRPr lang="en-IN"/>
          </a:p>
        </p:txBody>
      </p:sp>
    </p:spTree>
    <p:extLst>
      <p:ext uri="{BB962C8B-B14F-4D97-AF65-F5344CB8AC3E}">
        <p14:creationId xmlns="" xmlns:p14="http://schemas.microsoft.com/office/powerpoint/2010/main" val="20061069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ECE3C7-4CAC-83C5-06C3-42A79AAC3994}"/>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8CC8F73F-5430-C4C7-24B7-978CB7B2CD36}"/>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C9AD4E0F-8063-6714-0B2B-C4C7BFB3BB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46220EE7-BED2-805A-A166-2B514D3FD98E}"/>
              </a:ext>
            </a:extLst>
          </p:cNvPr>
          <p:cNvSpPr>
            <a:spLocks noGrp="1"/>
          </p:cNvSpPr>
          <p:nvPr>
            <p:ph type="sldNum" sz="quarter" idx="10"/>
          </p:nvPr>
        </p:nvSpPr>
        <p:spPr/>
        <p:txBody>
          <a:bodyPr/>
          <a:lstStyle/>
          <a:p>
            <a:fld id="{67E471F2-2083-493A-8C9E-53209FFA1EC8}" type="slidenum">
              <a:rPr lang="en-IN" smtClean="0"/>
              <a:pPr/>
              <a:t>13</a:t>
            </a:fld>
            <a:endParaRPr lang="en-IN"/>
          </a:p>
        </p:txBody>
      </p:sp>
    </p:spTree>
    <p:extLst>
      <p:ext uri="{BB962C8B-B14F-4D97-AF65-F5344CB8AC3E}">
        <p14:creationId xmlns="" xmlns:p14="http://schemas.microsoft.com/office/powerpoint/2010/main" val="340130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B0565D4-DEED-8F77-7875-441F7EC6573C}"/>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6C20EE74-7167-873A-95DE-2209D38A4B1F}"/>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87CB17A6-C5DF-DF2F-3449-59AE0E1E523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12A6B2E7-A9E4-7C60-5E8B-7C360EA4C31A}"/>
              </a:ext>
            </a:extLst>
          </p:cNvPr>
          <p:cNvSpPr>
            <a:spLocks noGrp="1"/>
          </p:cNvSpPr>
          <p:nvPr>
            <p:ph type="sldNum" sz="quarter" idx="10"/>
          </p:nvPr>
        </p:nvSpPr>
        <p:spPr/>
        <p:txBody>
          <a:bodyPr/>
          <a:lstStyle/>
          <a:p>
            <a:fld id="{67E471F2-2083-493A-8C9E-53209FFA1EC8}" type="slidenum">
              <a:rPr lang="en-IN" smtClean="0"/>
              <a:pPr/>
              <a:t>14</a:t>
            </a:fld>
            <a:endParaRPr lang="en-IN"/>
          </a:p>
        </p:txBody>
      </p:sp>
    </p:spTree>
    <p:extLst>
      <p:ext uri="{BB962C8B-B14F-4D97-AF65-F5344CB8AC3E}">
        <p14:creationId xmlns="" xmlns:p14="http://schemas.microsoft.com/office/powerpoint/2010/main" val="113217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B078334-1E7C-9B5D-22F4-8A0874D2C70A}"/>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78CA05E5-57D3-9020-E1E8-13EECF182CF1}"/>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6DE5D61-29D8-36CA-3B49-ED30EB6DC96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C6A6CBA9-998B-04E1-4DEE-A9C50489770F}"/>
              </a:ext>
            </a:extLst>
          </p:cNvPr>
          <p:cNvSpPr>
            <a:spLocks noGrp="1"/>
          </p:cNvSpPr>
          <p:nvPr>
            <p:ph type="sldNum" sz="quarter" idx="10"/>
          </p:nvPr>
        </p:nvSpPr>
        <p:spPr/>
        <p:txBody>
          <a:bodyPr/>
          <a:lstStyle/>
          <a:p>
            <a:fld id="{67E471F2-2083-493A-8C9E-53209FFA1EC8}" type="slidenum">
              <a:rPr lang="en-IN" smtClean="0"/>
              <a:pPr/>
              <a:t>15</a:t>
            </a:fld>
            <a:endParaRPr lang="en-IN"/>
          </a:p>
        </p:txBody>
      </p:sp>
    </p:spTree>
    <p:extLst>
      <p:ext uri="{BB962C8B-B14F-4D97-AF65-F5344CB8AC3E}">
        <p14:creationId xmlns="" xmlns:p14="http://schemas.microsoft.com/office/powerpoint/2010/main" val="37506980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B078334-1E7C-9B5D-22F4-8A0874D2C70A}"/>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78CA05E5-57D3-9020-E1E8-13EECF182CF1}"/>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6DE5D61-29D8-36CA-3B49-ED30EB6DC96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C6A6CBA9-998B-04E1-4DEE-A9C50489770F}"/>
              </a:ext>
            </a:extLst>
          </p:cNvPr>
          <p:cNvSpPr>
            <a:spLocks noGrp="1"/>
          </p:cNvSpPr>
          <p:nvPr>
            <p:ph type="sldNum" sz="quarter" idx="10"/>
          </p:nvPr>
        </p:nvSpPr>
        <p:spPr/>
        <p:txBody>
          <a:bodyPr/>
          <a:lstStyle/>
          <a:p>
            <a:fld id="{67E471F2-2083-493A-8C9E-53209FFA1EC8}" type="slidenum">
              <a:rPr lang="en-IN" smtClean="0"/>
              <a:pPr/>
              <a:t>16</a:t>
            </a:fld>
            <a:endParaRPr lang="en-IN"/>
          </a:p>
        </p:txBody>
      </p:sp>
    </p:spTree>
    <p:extLst>
      <p:ext uri="{BB962C8B-B14F-4D97-AF65-F5344CB8AC3E}">
        <p14:creationId xmlns="" xmlns:p14="http://schemas.microsoft.com/office/powerpoint/2010/main" val="37506980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B078334-1E7C-9B5D-22F4-8A0874D2C70A}"/>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78CA05E5-57D3-9020-E1E8-13EECF182CF1}"/>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6DE5D61-29D8-36CA-3B49-ED30EB6DC96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C6A6CBA9-998B-04E1-4DEE-A9C50489770F}"/>
              </a:ext>
            </a:extLst>
          </p:cNvPr>
          <p:cNvSpPr>
            <a:spLocks noGrp="1"/>
          </p:cNvSpPr>
          <p:nvPr>
            <p:ph type="sldNum" sz="quarter" idx="10"/>
          </p:nvPr>
        </p:nvSpPr>
        <p:spPr/>
        <p:txBody>
          <a:bodyPr/>
          <a:lstStyle/>
          <a:p>
            <a:fld id="{67E471F2-2083-493A-8C9E-53209FFA1EC8}" type="slidenum">
              <a:rPr lang="en-IN" smtClean="0"/>
              <a:pPr/>
              <a:t>17</a:t>
            </a:fld>
            <a:endParaRPr lang="en-IN"/>
          </a:p>
        </p:txBody>
      </p:sp>
    </p:spTree>
    <p:extLst>
      <p:ext uri="{BB962C8B-B14F-4D97-AF65-F5344CB8AC3E}">
        <p14:creationId xmlns="" xmlns:p14="http://schemas.microsoft.com/office/powerpoint/2010/main" val="37506980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B078334-1E7C-9B5D-22F4-8A0874D2C70A}"/>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78CA05E5-57D3-9020-E1E8-13EECF182CF1}"/>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6DE5D61-29D8-36CA-3B49-ED30EB6DC96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C6A6CBA9-998B-04E1-4DEE-A9C50489770F}"/>
              </a:ext>
            </a:extLst>
          </p:cNvPr>
          <p:cNvSpPr>
            <a:spLocks noGrp="1"/>
          </p:cNvSpPr>
          <p:nvPr>
            <p:ph type="sldNum" sz="quarter" idx="10"/>
          </p:nvPr>
        </p:nvSpPr>
        <p:spPr/>
        <p:txBody>
          <a:bodyPr/>
          <a:lstStyle/>
          <a:p>
            <a:fld id="{67E471F2-2083-493A-8C9E-53209FFA1EC8}" type="slidenum">
              <a:rPr lang="en-IN" smtClean="0"/>
              <a:pPr/>
              <a:t>18</a:t>
            </a:fld>
            <a:endParaRPr lang="en-IN"/>
          </a:p>
        </p:txBody>
      </p:sp>
    </p:spTree>
    <p:extLst>
      <p:ext uri="{BB962C8B-B14F-4D97-AF65-F5344CB8AC3E}">
        <p14:creationId xmlns="" xmlns:p14="http://schemas.microsoft.com/office/powerpoint/2010/main" val="37506980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B078334-1E7C-9B5D-22F4-8A0874D2C70A}"/>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78CA05E5-57D3-9020-E1E8-13EECF182CF1}"/>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6DE5D61-29D8-36CA-3B49-ED30EB6DC96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C6A6CBA9-998B-04E1-4DEE-A9C50489770F}"/>
              </a:ext>
            </a:extLst>
          </p:cNvPr>
          <p:cNvSpPr>
            <a:spLocks noGrp="1"/>
          </p:cNvSpPr>
          <p:nvPr>
            <p:ph type="sldNum" sz="quarter" idx="10"/>
          </p:nvPr>
        </p:nvSpPr>
        <p:spPr/>
        <p:txBody>
          <a:bodyPr/>
          <a:lstStyle/>
          <a:p>
            <a:fld id="{67E471F2-2083-493A-8C9E-53209FFA1EC8}" type="slidenum">
              <a:rPr lang="en-IN" smtClean="0"/>
              <a:pPr/>
              <a:t>19</a:t>
            </a:fld>
            <a:endParaRPr lang="en-IN"/>
          </a:p>
        </p:txBody>
      </p:sp>
    </p:spTree>
    <p:extLst>
      <p:ext uri="{BB962C8B-B14F-4D97-AF65-F5344CB8AC3E}">
        <p14:creationId xmlns="" xmlns:p14="http://schemas.microsoft.com/office/powerpoint/2010/main" val="37506980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980228F-58ED-A8A9-83F6-417BF9E8F184}"/>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C06092AC-450B-ED20-CC0E-863B8D3FB228}"/>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E5D67FF-E9BF-B02A-BB9A-F8D92EE150D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1648B14A-9DA2-06A7-BD4E-CC42A4DF4C5A}"/>
              </a:ext>
            </a:extLst>
          </p:cNvPr>
          <p:cNvSpPr>
            <a:spLocks noGrp="1"/>
          </p:cNvSpPr>
          <p:nvPr>
            <p:ph type="sldNum" sz="quarter" idx="10"/>
          </p:nvPr>
        </p:nvSpPr>
        <p:spPr/>
        <p:txBody>
          <a:bodyPr/>
          <a:lstStyle/>
          <a:p>
            <a:fld id="{67E471F2-2083-493A-8C9E-53209FFA1EC8}" type="slidenum">
              <a:rPr lang="en-IN" smtClean="0"/>
              <a:pPr/>
              <a:t>20</a:t>
            </a:fld>
            <a:endParaRPr lang="en-IN"/>
          </a:p>
        </p:txBody>
      </p:sp>
    </p:spTree>
    <p:extLst>
      <p:ext uri="{BB962C8B-B14F-4D97-AF65-F5344CB8AC3E}">
        <p14:creationId xmlns="" xmlns:p14="http://schemas.microsoft.com/office/powerpoint/2010/main" val="9187341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980228F-58ED-A8A9-83F6-417BF9E8F184}"/>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C06092AC-450B-ED20-CC0E-863B8D3FB228}"/>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E5D67FF-E9BF-B02A-BB9A-F8D92EE150D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1648B14A-9DA2-06A7-BD4E-CC42A4DF4C5A}"/>
              </a:ext>
            </a:extLst>
          </p:cNvPr>
          <p:cNvSpPr>
            <a:spLocks noGrp="1"/>
          </p:cNvSpPr>
          <p:nvPr>
            <p:ph type="sldNum" sz="quarter" idx="10"/>
          </p:nvPr>
        </p:nvSpPr>
        <p:spPr/>
        <p:txBody>
          <a:bodyPr/>
          <a:lstStyle/>
          <a:p>
            <a:fld id="{67E471F2-2083-493A-8C9E-53209FFA1EC8}" type="slidenum">
              <a:rPr lang="en-IN" smtClean="0"/>
              <a:pPr/>
              <a:t>21</a:t>
            </a:fld>
            <a:endParaRPr lang="en-IN"/>
          </a:p>
        </p:txBody>
      </p:sp>
    </p:spTree>
    <p:extLst>
      <p:ext uri="{BB962C8B-B14F-4D97-AF65-F5344CB8AC3E}">
        <p14:creationId xmlns="" xmlns:p14="http://schemas.microsoft.com/office/powerpoint/2010/main" val="9187341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980228F-58ED-A8A9-83F6-417BF9E8F184}"/>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C06092AC-450B-ED20-CC0E-863B8D3FB228}"/>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E5D67FF-E9BF-B02A-BB9A-F8D92EE150D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1648B14A-9DA2-06A7-BD4E-CC42A4DF4C5A}"/>
              </a:ext>
            </a:extLst>
          </p:cNvPr>
          <p:cNvSpPr>
            <a:spLocks noGrp="1"/>
          </p:cNvSpPr>
          <p:nvPr>
            <p:ph type="sldNum" sz="quarter" idx="10"/>
          </p:nvPr>
        </p:nvSpPr>
        <p:spPr/>
        <p:txBody>
          <a:bodyPr/>
          <a:lstStyle/>
          <a:p>
            <a:fld id="{67E471F2-2083-493A-8C9E-53209FFA1EC8}" type="slidenum">
              <a:rPr lang="en-IN" smtClean="0"/>
              <a:pPr/>
              <a:t>22</a:t>
            </a:fld>
            <a:endParaRPr lang="en-IN"/>
          </a:p>
        </p:txBody>
      </p:sp>
    </p:spTree>
    <p:extLst>
      <p:ext uri="{BB962C8B-B14F-4D97-AF65-F5344CB8AC3E}">
        <p14:creationId xmlns="" xmlns:p14="http://schemas.microsoft.com/office/powerpoint/2010/main" val="9187341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980228F-58ED-A8A9-83F6-417BF9E8F184}"/>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C06092AC-450B-ED20-CC0E-863B8D3FB228}"/>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E5D67FF-E9BF-B02A-BB9A-F8D92EE150D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1648B14A-9DA2-06A7-BD4E-CC42A4DF4C5A}"/>
              </a:ext>
            </a:extLst>
          </p:cNvPr>
          <p:cNvSpPr>
            <a:spLocks noGrp="1"/>
          </p:cNvSpPr>
          <p:nvPr>
            <p:ph type="sldNum" sz="quarter" idx="10"/>
          </p:nvPr>
        </p:nvSpPr>
        <p:spPr/>
        <p:txBody>
          <a:bodyPr/>
          <a:lstStyle/>
          <a:p>
            <a:fld id="{67E471F2-2083-493A-8C9E-53209FFA1EC8}" type="slidenum">
              <a:rPr lang="en-IN" smtClean="0"/>
              <a:pPr/>
              <a:t>23</a:t>
            </a:fld>
            <a:endParaRPr lang="en-IN"/>
          </a:p>
        </p:txBody>
      </p:sp>
    </p:spTree>
    <p:extLst>
      <p:ext uri="{BB962C8B-B14F-4D97-AF65-F5344CB8AC3E}">
        <p14:creationId xmlns="" xmlns:p14="http://schemas.microsoft.com/office/powerpoint/2010/main" val="9187341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980228F-58ED-A8A9-83F6-417BF9E8F184}"/>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C06092AC-450B-ED20-CC0E-863B8D3FB228}"/>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E5D67FF-E9BF-B02A-BB9A-F8D92EE150D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1648B14A-9DA2-06A7-BD4E-CC42A4DF4C5A}"/>
              </a:ext>
            </a:extLst>
          </p:cNvPr>
          <p:cNvSpPr>
            <a:spLocks noGrp="1"/>
          </p:cNvSpPr>
          <p:nvPr>
            <p:ph type="sldNum" sz="quarter" idx="10"/>
          </p:nvPr>
        </p:nvSpPr>
        <p:spPr/>
        <p:txBody>
          <a:bodyPr/>
          <a:lstStyle/>
          <a:p>
            <a:fld id="{67E471F2-2083-493A-8C9E-53209FFA1EC8}" type="slidenum">
              <a:rPr lang="en-IN" smtClean="0"/>
              <a:pPr/>
              <a:t>24</a:t>
            </a:fld>
            <a:endParaRPr lang="en-IN"/>
          </a:p>
        </p:txBody>
      </p:sp>
    </p:spTree>
    <p:extLst>
      <p:ext uri="{BB962C8B-B14F-4D97-AF65-F5344CB8AC3E}">
        <p14:creationId xmlns="" xmlns:p14="http://schemas.microsoft.com/office/powerpoint/2010/main" val="9187341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980228F-58ED-A8A9-83F6-417BF9E8F184}"/>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C06092AC-450B-ED20-CC0E-863B8D3FB228}"/>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E5D67FF-E9BF-B02A-BB9A-F8D92EE150D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1648B14A-9DA2-06A7-BD4E-CC42A4DF4C5A}"/>
              </a:ext>
            </a:extLst>
          </p:cNvPr>
          <p:cNvSpPr>
            <a:spLocks noGrp="1"/>
          </p:cNvSpPr>
          <p:nvPr>
            <p:ph type="sldNum" sz="quarter" idx="10"/>
          </p:nvPr>
        </p:nvSpPr>
        <p:spPr/>
        <p:txBody>
          <a:bodyPr/>
          <a:lstStyle/>
          <a:p>
            <a:fld id="{67E471F2-2083-493A-8C9E-53209FFA1EC8}" type="slidenum">
              <a:rPr lang="en-IN" smtClean="0"/>
              <a:pPr/>
              <a:t>25</a:t>
            </a:fld>
            <a:endParaRPr lang="en-IN"/>
          </a:p>
        </p:txBody>
      </p:sp>
    </p:spTree>
    <p:extLst>
      <p:ext uri="{BB962C8B-B14F-4D97-AF65-F5344CB8AC3E}">
        <p14:creationId xmlns="" xmlns:p14="http://schemas.microsoft.com/office/powerpoint/2010/main" val="9187341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980228F-58ED-A8A9-83F6-417BF9E8F184}"/>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C06092AC-450B-ED20-CC0E-863B8D3FB228}"/>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E5D67FF-E9BF-B02A-BB9A-F8D92EE150D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1648B14A-9DA2-06A7-BD4E-CC42A4DF4C5A}"/>
              </a:ext>
            </a:extLst>
          </p:cNvPr>
          <p:cNvSpPr>
            <a:spLocks noGrp="1"/>
          </p:cNvSpPr>
          <p:nvPr>
            <p:ph type="sldNum" sz="quarter" idx="10"/>
          </p:nvPr>
        </p:nvSpPr>
        <p:spPr/>
        <p:txBody>
          <a:bodyPr/>
          <a:lstStyle/>
          <a:p>
            <a:fld id="{67E471F2-2083-493A-8C9E-53209FFA1EC8}" type="slidenum">
              <a:rPr lang="en-IN" smtClean="0"/>
              <a:pPr/>
              <a:t>26</a:t>
            </a:fld>
            <a:endParaRPr lang="en-IN"/>
          </a:p>
        </p:txBody>
      </p:sp>
    </p:spTree>
    <p:extLst>
      <p:ext uri="{BB962C8B-B14F-4D97-AF65-F5344CB8AC3E}">
        <p14:creationId xmlns="" xmlns:p14="http://schemas.microsoft.com/office/powerpoint/2010/main" val="9187341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4/4/2026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4/4/2026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4/4/2026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4/4/2026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28.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hyperlink" Target="https://docs.oracle.com/javase" TargetMode="External"/><Relationship Id="rId7" Type="http://schemas.openxmlformats.org/officeDocument/2006/relationships/image" Target="../media/image8.png"/><Relationship Id="rId2" Type="http://schemas.openxmlformats.org/officeDocument/2006/relationships/hyperlink" Target="https://docs.oracle.com/" TargetMode="Externa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7.png"/><Relationship Id="rId4" Type="http://schemas.openxmlformats.org/officeDocument/2006/relationships/hyperlink" Target="https://www.w3schools.com/java/"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3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object 3"/>
          <p:cNvSpPr txBox="1">
            <a:spLocks noGrp="1"/>
          </p:cNvSpPr>
          <p:nvPr>
            <p:ph type="title"/>
          </p:nvPr>
        </p:nvSpPr>
        <p:spPr>
          <a:xfrm>
            <a:off x="1447800" y="1076308"/>
            <a:ext cx="7467599" cy="1012585"/>
          </a:xfrm>
          <a:prstGeom prst="rect">
            <a:avLst/>
          </a:prstGeom>
        </p:spPr>
        <p:txBody>
          <a:bodyPr vert="horz" wrap="square" lIns="0" tIns="11430" rIns="0" bIns="0" rtlCol="0">
            <a:spAutoFit/>
          </a:bodyPr>
          <a:lstStyle/>
          <a:p>
            <a:pPr marL="12700" algn="ctr">
              <a:lnSpc>
                <a:spcPct val="150000"/>
              </a:lnSpc>
              <a:spcBef>
                <a:spcPts val="90"/>
              </a:spcBef>
            </a:pPr>
            <a:r>
              <a:rPr lang="en-IN" sz="2400" spc="-10" dirty="0">
                <a:latin typeface="Times New Roman" panose="02020603050405020304" pitchFamily="18" charset="0"/>
                <a:cs typeface="Times New Roman" panose="02020603050405020304" pitchFamily="18" charset="0"/>
              </a:rPr>
              <a:t>Java Programming Cornerstone Project</a:t>
            </a:r>
            <a:r>
              <a:rPr lang="en-IN" sz="2200" spc="-10" dirty="0">
                <a:latin typeface="Times New Roman" panose="02020603050405020304" pitchFamily="18" charset="0"/>
                <a:cs typeface="Times New Roman" panose="02020603050405020304" pitchFamily="18" charset="0"/>
              </a:rPr>
              <a:t/>
            </a:r>
            <a:br>
              <a:rPr lang="en-IN" sz="2200" spc="-10" dirty="0">
                <a:latin typeface="Times New Roman" panose="02020603050405020304" pitchFamily="18" charset="0"/>
                <a:cs typeface="Times New Roman" panose="02020603050405020304" pitchFamily="18" charset="0"/>
              </a:rPr>
            </a:br>
            <a:r>
              <a:rPr lang="en-IN" sz="2200" spc="-10" dirty="0">
                <a:latin typeface="Times New Roman" panose="02020603050405020304" pitchFamily="18" charset="0"/>
                <a:cs typeface="Times New Roman" panose="02020603050405020304" pitchFamily="18" charset="0"/>
              </a:rPr>
              <a:t>Final Review</a:t>
            </a:r>
            <a:endParaRPr sz="2200" spc="-1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body" idx="1"/>
          </p:nvPr>
        </p:nvSpPr>
        <p:spPr>
          <a:xfrm>
            <a:off x="653494" y="2514600"/>
            <a:ext cx="8751412" cy="4089581"/>
          </a:xfrm>
          <a:prstGeom prst="rect">
            <a:avLst/>
          </a:prstGeom>
        </p:spPr>
        <p:txBody>
          <a:bodyPr vert="horz" wrap="square" lIns="0" tIns="16510" rIns="0" bIns="0" rtlCol="0">
            <a:spAutoFit/>
          </a:bodyPr>
          <a:lstStyle/>
          <a:p>
            <a:pPr algn="ctr">
              <a:lnSpc>
                <a:spcPct val="100000"/>
              </a:lnSpc>
              <a:spcBef>
                <a:spcPts val="130"/>
              </a:spcBef>
            </a:pPr>
            <a:r>
              <a:rPr lang="en-IN" sz="2400" dirty="0" smtClean="0"/>
              <a:t>Course</a:t>
            </a:r>
            <a:r>
              <a:rPr lang="en-IN" sz="2400" dirty="0" smtClean="0"/>
              <a:t> Registration </a:t>
            </a:r>
            <a:r>
              <a:rPr lang="en-IN" sz="2400" dirty="0"/>
              <a:t>System</a:t>
            </a:r>
          </a:p>
          <a:p>
            <a:pPr algn="ctr">
              <a:lnSpc>
                <a:spcPct val="100000"/>
              </a:lnSpc>
              <a:spcBef>
                <a:spcPts val="130"/>
              </a:spcBef>
            </a:pPr>
            <a:endParaRPr lang="en-IN"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sz="2200" dirty="0">
                <a:solidFill>
                  <a:srgbClr val="FF0000"/>
                </a:solidFill>
                <a:latin typeface="Times New Roman" panose="02020603050405020304" pitchFamily="18" charset="0"/>
                <a:cs typeface="Times New Roman" panose="02020603050405020304" pitchFamily="18" charset="0"/>
              </a:rPr>
              <a:t>Presented</a:t>
            </a:r>
            <a:r>
              <a:rPr sz="2200" spc="80" dirty="0">
                <a:solidFill>
                  <a:srgbClr val="FF0000"/>
                </a:solidFill>
                <a:latin typeface="Times New Roman" panose="02020603050405020304" pitchFamily="18" charset="0"/>
                <a:cs typeface="Times New Roman" panose="02020603050405020304" pitchFamily="18" charset="0"/>
              </a:rPr>
              <a:t> </a:t>
            </a:r>
            <a:r>
              <a:rPr sz="2200" spc="-25" dirty="0">
                <a:solidFill>
                  <a:srgbClr val="FF0000"/>
                </a:solidFill>
                <a:latin typeface="Times New Roman" panose="02020603050405020304" pitchFamily="18" charset="0"/>
                <a:cs typeface="Times New Roman" panose="02020603050405020304" pitchFamily="18" charset="0"/>
              </a:rPr>
              <a:t>by</a:t>
            </a:r>
            <a:endParaRPr lang="en-IN" sz="22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endParaRPr lang="en-IN" sz="9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lang="en-IN" sz="2000" spc="-10" dirty="0">
                <a:solidFill>
                  <a:srgbClr val="17375E"/>
                </a:solidFill>
                <a:latin typeface="Times New Roman" panose="02020603050405020304" pitchFamily="18" charset="0"/>
                <a:cs typeface="Times New Roman" panose="02020603050405020304" pitchFamily="18" charset="0"/>
              </a:rPr>
              <a:t>M</a:t>
            </a:r>
            <a:r>
              <a:rPr lang="en-IN" sz="2000" spc="-10" dirty="0" smtClean="0">
                <a:solidFill>
                  <a:srgbClr val="17375E"/>
                </a:solidFill>
                <a:latin typeface="Times New Roman" panose="02020603050405020304" pitchFamily="18" charset="0"/>
                <a:cs typeface="Times New Roman" panose="02020603050405020304" pitchFamily="18" charset="0"/>
              </a:rPr>
              <a:t> </a:t>
            </a:r>
            <a:r>
              <a:rPr lang="en-IN" sz="2000" spc="-10" dirty="0" err="1" smtClean="0">
                <a:solidFill>
                  <a:srgbClr val="17375E"/>
                </a:solidFill>
                <a:latin typeface="Times New Roman" panose="02020603050405020304" pitchFamily="18" charset="0"/>
                <a:cs typeface="Times New Roman" panose="02020603050405020304" pitchFamily="18" charset="0"/>
              </a:rPr>
              <a:t>Meenakshi</a:t>
            </a:r>
            <a:r>
              <a:rPr lang="en-IN" sz="2000" spc="-10" dirty="0" smtClean="0">
                <a:solidFill>
                  <a:srgbClr val="17375E"/>
                </a:solidFill>
                <a:latin typeface="Times New Roman" panose="02020603050405020304" pitchFamily="18" charset="0"/>
                <a:cs typeface="Times New Roman" panose="02020603050405020304" pitchFamily="18" charset="0"/>
              </a:rPr>
              <a:t> (</a:t>
            </a:r>
            <a:r>
              <a:rPr lang="en-IN" sz="2000" spc="-10" dirty="0" smtClean="0">
                <a:solidFill>
                  <a:srgbClr val="17375E"/>
                </a:solidFill>
                <a:latin typeface="Times New Roman" panose="02020603050405020304" pitchFamily="18" charset="0"/>
                <a:cs typeface="Times New Roman" panose="02020603050405020304" pitchFamily="18" charset="0"/>
              </a:rPr>
              <a:t>24B11DS</a:t>
            </a:r>
            <a:r>
              <a:rPr lang="en-IN" sz="2000" spc="-10" dirty="0" smtClean="0">
                <a:solidFill>
                  <a:srgbClr val="17375E"/>
                </a:solidFill>
                <a:latin typeface="Times New Roman" panose="02020603050405020304" pitchFamily="18" charset="0"/>
                <a:cs typeface="Times New Roman" panose="02020603050405020304" pitchFamily="18" charset="0"/>
              </a:rPr>
              <a:t>129)</a:t>
            </a:r>
            <a:endParaRPr lang="en-IN" sz="2000" spc="-10" dirty="0">
              <a:solidFill>
                <a:srgbClr val="17375E"/>
              </a:solidFill>
              <a:latin typeface="Times New Roman" panose="02020603050405020304" pitchFamily="18" charset="0"/>
              <a:cs typeface="Times New Roman" panose="02020603050405020304" pitchFamily="18" charset="0"/>
            </a:endParaRPr>
          </a:p>
          <a:p>
            <a:pPr marL="3810" algn="ctr">
              <a:lnSpc>
                <a:spcPct val="100000"/>
              </a:lnSpc>
              <a:spcBef>
                <a:spcPts val="750"/>
              </a:spcBef>
            </a:pPr>
            <a:r>
              <a:rPr lang="en-IN" sz="2000" spc="-10" dirty="0">
                <a:solidFill>
                  <a:srgbClr val="17375E"/>
                </a:solidFill>
                <a:latin typeface="Times New Roman" panose="02020603050405020304" pitchFamily="18" charset="0"/>
                <a:cs typeface="Times New Roman" panose="02020603050405020304" pitchFamily="18" charset="0"/>
              </a:rPr>
              <a:t>S</a:t>
            </a:r>
            <a:r>
              <a:rPr lang="en-IN" sz="2000" spc="-10" dirty="0" smtClean="0">
                <a:solidFill>
                  <a:srgbClr val="17375E"/>
                </a:solidFill>
                <a:latin typeface="Times New Roman" panose="02020603050405020304" pitchFamily="18" charset="0"/>
                <a:cs typeface="Times New Roman" panose="02020603050405020304" pitchFamily="18" charset="0"/>
              </a:rPr>
              <a:t> Devi </a:t>
            </a:r>
            <a:r>
              <a:rPr lang="en-IN" sz="2000" spc="-10" dirty="0" err="1" smtClean="0">
                <a:solidFill>
                  <a:srgbClr val="17375E"/>
                </a:solidFill>
                <a:latin typeface="Times New Roman" panose="02020603050405020304" pitchFamily="18" charset="0"/>
                <a:cs typeface="Times New Roman" panose="02020603050405020304" pitchFamily="18" charset="0"/>
              </a:rPr>
              <a:t>Saranya</a:t>
            </a:r>
            <a:r>
              <a:rPr lang="en-IN" sz="2000" spc="-10" dirty="0" smtClean="0">
                <a:solidFill>
                  <a:srgbClr val="17375E"/>
                </a:solidFill>
                <a:latin typeface="Times New Roman" panose="02020603050405020304" pitchFamily="18" charset="0"/>
                <a:cs typeface="Times New Roman" panose="02020603050405020304" pitchFamily="18" charset="0"/>
              </a:rPr>
              <a:t> (</a:t>
            </a:r>
            <a:r>
              <a:rPr lang="en-IN" sz="2000" spc="-10" dirty="0" smtClean="0">
                <a:solidFill>
                  <a:srgbClr val="17375E"/>
                </a:solidFill>
                <a:latin typeface="Times New Roman" panose="02020603050405020304" pitchFamily="18" charset="0"/>
                <a:cs typeface="Times New Roman" panose="02020603050405020304" pitchFamily="18" charset="0"/>
              </a:rPr>
              <a:t>24B11DS185</a:t>
            </a:r>
            <a:r>
              <a:rPr lang="en-IN" sz="2000" spc="-10" dirty="0" smtClean="0">
                <a:solidFill>
                  <a:srgbClr val="17375E"/>
                </a:solidFill>
                <a:latin typeface="Times New Roman" panose="02020603050405020304" pitchFamily="18" charset="0"/>
                <a:cs typeface="Times New Roman" panose="02020603050405020304" pitchFamily="18" charset="0"/>
              </a:rPr>
              <a:t>)</a:t>
            </a:r>
            <a:endParaRPr lang="en-IN" sz="2000" spc="-10" dirty="0">
              <a:solidFill>
                <a:srgbClr val="17375E"/>
              </a:solidFill>
              <a:latin typeface="Times New Roman" panose="02020603050405020304" pitchFamily="18" charset="0"/>
              <a:cs typeface="Times New Roman" panose="02020603050405020304" pitchFamily="18" charset="0"/>
            </a:endParaRPr>
          </a:p>
          <a:p>
            <a:pPr marL="3810" algn="ctr">
              <a:lnSpc>
                <a:spcPct val="100000"/>
              </a:lnSpc>
              <a:spcBef>
                <a:spcPts val="750"/>
              </a:spcBef>
            </a:pPr>
            <a:r>
              <a:rPr lang="en-IN" sz="2000" spc="-10" dirty="0">
                <a:solidFill>
                  <a:srgbClr val="17375E"/>
                </a:solidFill>
                <a:latin typeface="Times New Roman" panose="02020603050405020304" pitchFamily="18" charset="0"/>
                <a:cs typeface="Times New Roman" panose="02020603050405020304" pitchFamily="18" charset="0"/>
              </a:rPr>
              <a:t>N</a:t>
            </a:r>
            <a:r>
              <a:rPr lang="en-IN" sz="2000" spc="-10" dirty="0" smtClean="0">
                <a:solidFill>
                  <a:srgbClr val="17375E"/>
                </a:solidFill>
                <a:latin typeface="Times New Roman" panose="02020603050405020304" pitchFamily="18" charset="0"/>
                <a:cs typeface="Times New Roman" panose="02020603050405020304" pitchFamily="18" charset="0"/>
              </a:rPr>
              <a:t> </a:t>
            </a:r>
            <a:r>
              <a:rPr lang="en-IN" sz="2000" spc="-10" dirty="0" err="1" smtClean="0">
                <a:solidFill>
                  <a:srgbClr val="17375E"/>
                </a:solidFill>
                <a:latin typeface="Times New Roman" panose="02020603050405020304" pitchFamily="18" charset="0"/>
                <a:cs typeface="Times New Roman" panose="02020603050405020304" pitchFamily="18" charset="0"/>
              </a:rPr>
              <a:t>Kowsalya</a:t>
            </a:r>
            <a:r>
              <a:rPr lang="en-IN" sz="2000" spc="-10" dirty="0" smtClean="0">
                <a:solidFill>
                  <a:srgbClr val="17375E"/>
                </a:solidFill>
                <a:latin typeface="Times New Roman" panose="02020603050405020304" pitchFamily="18" charset="0"/>
                <a:cs typeface="Times New Roman" panose="02020603050405020304" pitchFamily="18" charset="0"/>
              </a:rPr>
              <a:t> (</a:t>
            </a:r>
            <a:r>
              <a:rPr lang="en-IN" sz="2000" spc="-10" dirty="0" smtClean="0">
                <a:solidFill>
                  <a:srgbClr val="17375E"/>
                </a:solidFill>
                <a:latin typeface="Times New Roman" panose="02020603050405020304" pitchFamily="18" charset="0"/>
                <a:cs typeface="Times New Roman" panose="02020603050405020304" pitchFamily="18" charset="0"/>
              </a:rPr>
              <a:t>24B11</a:t>
            </a:r>
            <a:r>
              <a:rPr lang="en-IN" sz="2000" spc="-10" dirty="0" smtClean="0">
                <a:solidFill>
                  <a:srgbClr val="17375E"/>
                </a:solidFill>
                <a:latin typeface="Times New Roman" panose="02020603050405020304" pitchFamily="18" charset="0"/>
                <a:cs typeface="Times New Roman" panose="02020603050405020304" pitchFamily="18" charset="0"/>
              </a:rPr>
              <a:t>A1321)</a:t>
            </a:r>
            <a:endParaRPr lang="en-IN" sz="2000" spc="-10" dirty="0">
              <a:solidFill>
                <a:srgbClr val="17375E"/>
              </a:solidFill>
              <a:latin typeface="Times New Roman" panose="02020603050405020304" pitchFamily="18" charset="0"/>
              <a:cs typeface="Times New Roman" panose="02020603050405020304" pitchFamily="18" charset="0"/>
            </a:endParaRPr>
          </a:p>
          <a:p>
            <a:pPr marL="3810" algn="ctr">
              <a:lnSpc>
                <a:spcPct val="100000"/>
              </a:lnSpc>
              <a:spcBef>
                <a:spcPts val="750"/>
              </a:spcBef>
            </a:pPr>
            <a:r>
              <a:rPr lang="en-IN" sz="2000" spc="-10" dirty="0">
                <a:solidFill>
                  <a:srgbClr val="17375E"/>
                </a:solidFill>
                <a:latin typeface="Times New Roman" panose="02020603050405020304" pitchFamily="18" charset="0"/>
                <a:cs typeface="Times New Roman" panose="02020603050405020304" pitchFamily="18" charset="0"/>
              </a:rPr>
              <a:t>T</a:t>
            </a:r>
            <a:r>
              <a:rPr lang="en-IN" sz="2000" spc="-10" dirty="0" smtClean="0">
                <a:solidFill>
                  <a:srgbClr val="17375E"/>
                </a:solidFill>
                <a:latin typeface="Times New Roman" panose="02020603050405020304" pitchFamily="18" charset="0"/>
                <a:cs typeface="Times New Roman" panose="02020603050405020304" pitchFamily="18" charset="0"/>
              </a:rPr>
              <a:t> </a:t>
            </a:r>
            <a:r>
              <a:rPr lang="en-IN" sz="2000" spc="-10" dirty="0" err="1" smtClean="0">
                <a:solidFill>
                  <a:srgbClr val="17375E"/>
                </a:solidFill>
                <a:latin typeface="Times New Roman" panose="02020603050405020304" pitchFamily="18" charset="0"/>
                <a:cs typeface="Times New Roman" panose="02020603050405020304" pitchFamily="18" charset="0"/>
              </a:rPr>
              <a:t>Sreenija</a:t>
            </a:r>
            <a:r>
              <a:rPr lang="en-IN" sz="2000" spc="-10" dirty="0" smtClean="0">
                <a:solidFill>
                  <a:srgbClr val="17375E"/>
                </a:solidFill>
                <a:latin typeface="Times New Roman" panose="02020603050405020304" pitchFamily="18" charset="0"/>
                <a:cs typeface="Times New Roman" panose="02020603050405020304" pitchFamily="18" charset="0"/>
              </a:rPr>
              <a:t> (</a:t>
            </a:r>
            <a:r>
              <a:rPr lang="en-IN" sz="2000" spc="-10" dirty="0" smtClean="0">
                <a:solidFill>
                  <a:srgbClr val="17375E"/>
                </a:solidFill>
                <a:latin typeface="Times New Roman" panose="02020603050405020304" pitchFamily="18" charset="0"/>
                <a:cs typeface="Times New Roman" panose="02020603050405020304" pitchFamily="18" charset="0"/>
              </a:rPr>
              <a:t>24B11</a:t>
            </a:r>
            <a:r>
              <a:rPr lang="en-IN" sz="2000" spc="-10" dirty="0" smtClean="0">
                <a:solidFill>
                  <a:srgbClr val="17375E"/>
                </a:solidFill>
                <a:latin typeface="Times New Roman" panose="02020603050405020304" pitchFamily="18" charset="0"/>
                <a:cs typeface="Times New Roman" panose="02020603050405020304" pitchFamily="18" charset="0"/>
              </a:rPr>
              <a:t>A1417)</a:t>
            </a:r>
            <a:endParaRPr lang="en-IN" sz="2000" spc="-10" dirty="0">
              <a:solidFill>
                <a:srgbClr val="17375E"/>
              </a:solidFill>
              <a:latin typeface="Times New Roman" panose="02020603050405020304" pitchFamily="18" charset="0"/>
              <a:cs typeface="Times New Roman" panose="02020603050405020304" pitchFamily="18" charset="0"/>
            </a:endParaRPr>
          </a:p>
          <a:p>
            <a:pPr marL="3810" algn="ctr">
              <a:lnSpc>
                <a:spcPct val="100000"/>
              </a:lnSpc>
              <a:spcBef>
                <a:spcPts val="750"/>
              </a:spcBef>
            </a:pPr>
            <a:endParaRPr lang="en-IN" sz="1650" spc="-10" dirty="0">
              <a:latin typeface="Times New Roman" panose="02020603050405020304" pitchFamily="18" charset="0"/>
              <a:cs typeface="Times New Roman" panose="02020603050405020304" pitchFamily="18" charset="0"/>
            </a:endParaRPr>
          </a:p>
          <a:p>
            <a:pPr marL="1270" algn="ctr">
              <a:lnSpc>
                <a:spcPct val="100000"/>
              </a:lnSpc>
              <a:spcBef>
                <a:spcPts val="994"/>
              </a:spcBef>
            </a:pPr>
            <a:r>
              <a:rPr sz="2200" smtClean="0">
                <a:solidFill>
                  <a:srgbClr val="943735"/>
                </a:solidFill>
                <a:latin typeface="Times New Roman" panose="02020603050405020304" pitchFamily="18" charset="0"/>
                <a:cs typeface="Times New Roman" panose="02020603050405020304" pitchFamily="18" charset="0"/>
              </a:rPr>
              <a:t>Department</a:t>
            </a:r>
            <a:r>
              <a:rPr sz="2200" spc="-60" smtClean="0">
                <a:solidFill>
                  <a:srgbClr val="943735"/>
                </a:solidFill>
                <a:latin typeface="Times New Roman" panose="02020603050405020304" pitchFamily="18" charset="0"/>
                <a:cs typeface="Times New Roman" panose="02020603050405020304" pitchFamily="18" charset="0"/>
              </a:rPr>
              <a:t> </a:t>
            </a:r>
            <a:r>
              <a:rPr sz="2200" smtClean="0">
                <a:solidFill>
                  <a:srgbClr val="943735"/>
                </a:solidFill>
                <a:latin typeface="Times New Roman" panose="02020603050405020304" pitchFamily="18" charset="0"/>
                <a:cs typeface="Times New Roman" panose="02020603050405020304" pitchFamily="18" charset="0"/>
              </a:rPr>
              <a:t>o</a:t>
            </a:r>
            <a:r>
              <a:rPr lang="en-US" sz="2200" dirty="0" smtClean="0">
                <a:solidFill>
                  <a:srgbClr val="943735"/>
                </a:solidFill>
                <a:latin typeface="Times New Roman" panose="02020603050405020304" pitchFamily="18" charset="0"/>
                <a:cs typeface="Times New Roman" panose="02020603050405020304" pitchFamily="18" charset="0"/>
              </a:rPr>
              <a:t>f Artificial Intelligence and Machine Learning</a:t>
            </a:r>
            <a:endParaRPr lang="en-IN" sz="2200" spc="-10" dirty="0" smtClean="0">
              <a:solidFill>
                <a:srgbClr val="943735"/>
              </a:solidFill>
              <a:latin typeface="Times New Roman" panose="02020603050405020304" pitchFamily="18" charset="0"/>
              <a:cs typeface="Times New Roman" panose="02020603050405020304" pitchFamily="18" charset="0"/>
            </a:endParaRPr>
          </a:p>
          <a:p>
            <a:pPr marL="1270" algn="ctr">
              <a:lnSpc>
                <a:spcPct val="100000"/>
              </a:lnSpc>
              <a:spcBef>
                <a:spcPts val="994"/>
              </a:spcBef>
            </a:pPr>
            <a:endParaRPr lang="en-IN" sz="1650" spc="-10" dirty="0">
              <a:solidFill>
                <a:srgbClr val="943735"/>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sp>
        <p:nvSpPr>
          <p:cNvPr id="4" name="object 4"/>
          <p:cNvSpPr txBox="1"/>
          <p:nvPr/>
        </p:nvSpPr>
        <p:spPr>
          <a:xfrm>
            <a:off x="1260408" y="1191211"/>
            <a:ext cx="3770980" cy="5495094"/>
          </a:xfrm>
          <a:prstGeom prst="rect">
            <a:avLst/>
          </a:prstGeom>
        </p:spPr>
        <p:txBody>
          <a:bodyPr vert="horz" wrap="square" lIns="0" tIns="16510" rIns="0" bIns="0" rtlCol="0">
            <a:spAutoFit/>
          </a:bodyPr>
          <a:lstStyle/>
          <a:p>
            <a:pPr marL="389890" indent="-377190">
              <a:lnSpc>
                <a:spcPct val="100000"/>
              </a:lnSpc>
              <a:spcBef>
                <a:spcPts val="130"/>
              </a:spcBef>
              <a:buFont typeface="Cambria"/>
              <a:buAutoNum type="arabicPeriod"/>
              <a:tabLst>
                <a:tab pos="389890" algn="l"/>
              </a:tabLst>
            </a:pPr>
            <a:r>
              <a:rPr lang="en-IN" sz="2400" spc="-10" dirty="0">
                <a:latin typeface="Times New Roman" panose="02020603050405020304" pitchFamily="18" charset="0"/>
                <a:cs typeface="Times New Roman" panose="02020603050405020304" pitchFamily="18" charset="0"/>
              </a:rPr>
              <a:t>Abstract</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Introduction</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System Analysis</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Database Design</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System Design</a:t>
            </a:r>
          </a:p>
          <a:p>
            <a:pPr marL="389890" indent="-377190">
              <a:lnSpc>
                <a:spcPct val="100000"/>
              </a:lnSpc>
              <a:spcBef>
                <a:spcPts val="2060"/>
              </a:spcBef>
              <a:buAutoNum type="arabicPeriod"/>
              <a:tabLst>
                <a:tab pos="389890" algn="l"/>
              </a:tabLst>
            </a:pPr>
            <a:r>
              <a:rPr lang="en-IN" sz="2400" spc="50" dirty="0">
                <a:latin typeface="Times New Roman" panose="02020603050405020304" pitchFamily="18" charset="0"/>
                <a:cs typeface="Times New Roman" panose="02020603050405020304" pitchFamily="18" charset="0"/>
              </a:rPr>
              <a:t>System Implementation</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Future Enhancements</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References</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Conclusion</a:t>
            </a:r>
          </a:p>
        </p:txBody>
      </p:sp>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p:cNvSpPr txBox="1">
            <a:spLocks/>
          </p:cNvSpPr>
          <p:nvPr/>
        </p:nvSpPr>
        <p:spPr>
          <a:xfrm>
            <a:off x="3604543" y="286092"/>
            <a:ext cx="2853690" cy="355225"/>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IN" sz="2200" b="1" dirty="0">
                <a:solidFill>
                  <a:schemeClr val="bg1"/>
                </a:solidFill>
                <a:latin typeface="Times New Roman" panose="02020603050405020304" pitchFamily="18" charset="0"/>
                <a:cs typeface="Times New Roman" panose="02020603050405020304" pitchFamily="18" charset="0"/>
              </a:rPr>
              <a:t>Presentation 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2667000" y="53695"/>
            <a:ext cx="5103904" cy="1198311"/>
            <a:chOff x="2648188" y="47148"/>
            <a:chExt cx="5103904" cy="1198311"/>
          </a:xfrm>
        </p:grpSpPr>
        <p:pic>
          <p:nvPicPr>
            <p:cNvPr id="4" name="object 4"/>
            <p:cNvPicPr/>
            <p:nvPr/>
          </p:nvPicPr>
          <p:blipFill>
            <a:blip r:embed="rId2" cstate="print"/>
            <a:stretch>
              <a:fillRect/>
            </a:stretch>
          </p:blipFill>
          <p:spPr>
            <a:xfrm>
              <a:off x="2648188" y="47148"/>
              <a:ext cx="5103904" cy="1198311"/>
            </a:xfrm>
            <a:prstGeom prst="rect">
              <a:avLst/>
            </a:prstGeom>
          </p:spPr>
        </p:pic>
        <p:pic>
          <p:nvPicPr>
            <p:cNvPr id="5" name="object 5"/>
            <p:cNvPicPr/>
            <p:nvPr/>
          </p:nvPicPr>
          <p:blipFill>
            <a:blip r:embed="rId3" cstate="print"/>
            <a:stretch>
              <a:fillRect/>
            </a:stretch>
          </p:blipFill>
          <p:spPr>
            <a:xfrm>
              <a:off x="2703195" y="86439"/>
              <a:ext cx="4997767" cy="1092279"/>
            </a:xfrm>
            <a:prstGeom prst="rect">
              <a:avLst/>
            </a:prstGeom>
          </p:spPr>
        </p:pic>
        <p:pic>
          <p:nvPicPr>
            <p:cNvPr id="6" name="object 6"/>
            <p:cNvPicPr/>
            <p:nvPr/>
          </p:nvPicPr>
          <p:blipFill>
            <a:blip r:embed="rId4" cstate="print"/>
            <a:stretch>
              <a:fillRect/>
            </a:stretch>
          </p:blipFill>
          <p:spPr>
            <a:xfrm>
              <a:off x="2828925" y="243549"/>
              <a:ext cx="4585268" cy="522565"/>
            </a:xfrm>
            <a:prstGeom prst="rect">
              <a:avLst/>
            </a:prstGeom>
          </p:spPr>
        </p:pic>
        <p:sp>
          <p:nvSpPr>
            <p:cNvPr id="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p:cNvSpPr txBox="1">
            <a:spLocks noGrp="1"/>
          </p:cNvSpPr>
          <p:nvPr>
            <p:ph type="title"/>
          </p:nvPr>
        </p:nvSpPr>
        <p:spPr>
          <a:xfrm>
            <a:off x="4343400" y="325191"/>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ABSTRACT</a:t>
            </a:r>
          </a:p>
        </p:txBody>
      </p:sp>
      <p:pic>
        <p:nvPicPr>
          <p:cNvPr id="10" name="object 3">
            <a:extLst>
              <a:ext uri="{FF2B5EF4-FFF2-40B4-BE49-F238E27FC236}">
                <a16:creationId xmlns="" xmlns:a16="http://schemas.microsoft.com/office/drawing/2014/main" id="{1B5A0518-1CDA-CA94-327E-0995E9EC2B84}"/>
              </a:ext>
            </a:extLst>
          </p:cNvPr>
          <p:cNvPicPr/>
          <p:nvPr/>
        </p:nvPicPr>
        <p:blipFill>
          <a:blip r:embed="rId5" cstate="print"/>
          <a:stretch>
            <a:fillRect/>
          </a:stretch>
        </p:blipFill>
        <p:spPr>
          <a:xfrm>
            <a:off x="290750" y="204311"/>
            <a:ext cx="1163002" cy="424338"/>
          </a:xfrm>
          <a:prstGeom prst="rect">
            <a:avLst/>
          </a:prstGeom>
        </p:spPr>
      </p:pic>
      <p:sp>
        <p:nvSpPr>
          <p:cNvPr id="13" name="TextBox 12">
            <a:extLst>
              <a:ext uri="{FF2B5EF4-FFF2-40B4-BE49-F238E27FC236}">
                <a16:creationId xmlns="" xmlns:a16="http://schemas.microsoft.com/office/drawing/2014/main" id="{F71F55BA-986F-654A-5E2D-6EB3BA46572D}"/>
              </a:ext>
            </a:extLst>
          </p:cNvPr>
          <p:cNvSpPr txBox="1"/>
          <p:nvPr/>
        </p:nvSpPr>
        <p:spPr>
          <a:xfrm>
            <a:off x="723900" y="1185265"/>
            <a:ext cx="8610600" cy="7201972"/>
          </a:xfrm>
          <a:prstGeom prst="rect">
            <a:avLst/>
          </a:prstGeom>
          <a:noFill/>
        </p:spPr>
        <p:txBody>
          <a:bodyPr wrap="square" rtlCol="0">
            <a:spAutoFit/>
          </a:bodyPr>
          <a:lstStyle/>
          <a:p>
            <a:pPr marL="342900" indent="-342900" algn="l">
              <a:lnSpc>
                <a:spcPct val="150000"/>
              </a:lnSpc>
              <a:buFont typeface="Arial" pitchFamily="34" charset="0"/>
              <a:buChar char="•"/>
            </a:pPr>
            <a:r>
              <a:rPr lang="en-US" sz="2200" dirty="0" smtClean="0">
                <a:latin typeface="Times New Roman" pitchFamily="18" charset="0"/>
                <a:cs typeface="Times New Roman" pitchFamily="18" charset="0"/>
              </a:rPr>
              <a:t>The </a:t>
            </a:r>
            <a:r>
              <a:rPr lang="en-US" sz="2200" b="1" dirty="0" smtClean="0">
                <a:latin typeface="Times New Roman" pitchFamily="18" charset="0"/>
                <a:cs typeface="Times New Roman" pitchFamily="18" charset="0"/>
              </a:rPr>
              <a:t>Course Registration System (CRS)</a:t>
            </a:r>
            <a:r>
              <a:rPr lang="en-US" sz="2200" dirty="0" smtClean="0">
                <a:latin typeface="Times New Roman" pitchFamily="18" charset="0"/>
                <a:cs typeface="Times New Roman" pitchFamily="18" charset="0"/>
              </a:rPr>
              <a:t> is a Java-based application designed to manage course and student registration efficiently within an educational institution.</a:t>
            </a:r>
          </a:p>
          <a:p>
            <a:pPr marL="342900" indent="-342900" algn="l">
              <a:lnSpc>
                <a:spcPct val="150000"/>
              </a:lnSpc>
              <a:buFont typeface="Arial" pitchFamily="34" charset="0"/>
              <a:buChar char="•"/>
            </a:pPr>
            <a:r>
              <a:rPr lang="en-US" sz="2200" dirty="0" smtClean="0">
                <a:latin typeface="Times New Roman" pitchFamily="18" charset="0"/>
                <a:cs typeface="Times New Roman" pitchFamily="18" charset="0"/>
              </a:rPr>
              <a:t>The system provides functionalities such as adding, updating, searching, and viewing student and course records, thereby reducing manual effort and errors. </a:t>
            </a:r>
          </a:p>
          <a:p>
            <a:pPr marL="342900" indent="-342900" algn="l">
              <a:lnSpc>
                <a:spcPct val="150000"/>
              </a:lnSpc>
              <a:buFont typeface="Arial" pitchFamily="34" charset="0"/>
              <a:buChar char="•"/>
            </a:pPr>
            <a:r>
              <a:rPr lang="en-US" sz="2200" dirty="0" smtClean="0">
                <a:latin typeface="Times New Roman" pitchFamily="18" charset="0"/>
                <a:cs typeface="Times New Roman" pitchFamily="18" charset="0"/>
              </a:rPr>
              <a:t>CRS aims to improve data accuracy, accessibility, and organization by using a structured and centralized approach. </a:t>
            </a:r>
          </a:p>
          <a:p>
            <a:pPr marL="342900" indent="-342900" algn="l">
              <a:lnSpc>
                <a:spcPct val="150000"/>
              </a:lnSpc>
              <a:buFont typeface="Arial" pitchFamily="34" charset="0"/>
              <a:buChar char="•"/>
            </a:pPr>
            <a:r>
              <a:rPr lang="en-US" sz="2200" dirty="0" smtClean="0">
                <a:latin typeface="Times New Roman" pitchFamily="18" charset="0"/>
                <a:cs typeface="Times New Roman" pitchFamily="18" charset="0"/>
              </a:rPr>
              <a:t>The application is developed using core Java concepts, Swing for graphical user interface, and database connectivity (JDBC) for persistent data storage. </a:t>
            </a:r>
            <a:br>
              <a:rPr lang="en-US" sz="2200" dirty="0" smtClean="0">
                <a:latin typeface="Times New Roman" pitchFamily="18" charset="0"/>
                <a:cs typeface="Times New Roman" pitchFamily="18" charset="0"/>
              </a:rPr>
            </a:br>
            <a:r>
              <a:rPr lang="en-US" sz="2200" dirty="0" smtClean="0">
                <a:latin typeface="Times New Roman" pitchFamily="18" charset="0"/>
                <a:cs typeface="Times New Roman" pitchFamily="18" charset="0"/>
              </a:rPr>
              <a:t/>
            </a:r>
            <a:br>
              <a:rPr lang="en-US" sz="2200" dirty="0" smtClean="0">
                <a:latin typeface="Times New Roman" pitchFamily="18" charset="0"/>
                <a:cs typeface="Times New Roman" pitchFamily="18" charset="0"/>
              </a:rPr>
            </a:br>
            <a:r>
              <a:rPr lang="en-US" sz="2200" dirty="0" smtClean="0">
                <a:latin typeface="Times New Roman" pitchFamily="18" charset="0"/>
                <a:cs typeface="Times New Roman" pitchFamily="18" charset="0"/>
              </a:rPr>
              <a:t/>
            </a:r>
            <a:br>
              <a:rPr lang="en-US" sz="2200" dirty="0" smtClean="0">
                <a:latin typeface="Times New Roman" pitchFamily="18" charset="0"/>
                <a:cs typeface="Times New Roman" pitchFamily="18" charset="0"/>
              </a:rPr>
            </a:br>
            <a:endParaRPr lang="en-IN" sz="22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 xmlns:a16="http://schemas.microsoft.com/office/drawing/2014/main" id="{D80E80D0-6F89-D49C-8F71-3B704975761E}"/>
              </a:ext>
            </a:extLst>
          </p:cNvPr>
          <p:cNvSpPr txBox="1"/>
          <p:nvPr/>
        </p:nvSpPr>
        <p:spPr>
          <a:xfrm>
            <a:off x="3954952" y="344896"/>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INTRODUCTION</a:t>
            </a:r>
          </a:p>
        </p:txBody>
      </p:sp>
      <p:pic>
        <p:nvPicPr>
          <p:cNvPr id="17" name="object 3">
            <a:extLst>
              <a:ext uri="{FF2B5EF4-FFF2-40B4-BE49-F238E27FC236}">
                <a16:creationId xmlns=""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2" name="TextBox 1">
            <a:extLst>
              <a:ext uri="{FF2B5EF4-FFF2-40B4-BE49-F238E27FC236}">
                <a16:creationId xmlns="" xmlns:a16="http://schemas.microsoft.com/office/drawing/2014/main" id="{25851B59-AD5A-81AD-7D42-C1CD5E589B58}"/>
              </a:ext>
            </a:extLst>
          </p:cNvPr>
          <p:cNvSpPr txBox="1"/>
          <p:nvPr/>
        </p:nvSpPr>
        <p:spPr>
          <a:xfrm>
            <a:off x="723900" y="1437175"/>
            <a:ext cx="8610600" cy="4154984"/>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200" dirty="0" smtClean="0">
                <a:latin typeface="Times New Roman" pitchFamily="18" charset="0"/>
                <a:cs typeface="Times New Roman" pitchFamily="18" charset="0"/>
              </a:rPr>
              <a:t>In any educational institution, managing student registrations and course details is a critical and continuous task.</a:t>
            </a:r>
          </a:p>
          <a:p>
            <a:pPr marL="342900" indent="-342900" algn="just">
              <a:lnSpc>
                <a:spcPct val="150000"/>
              </a:lnSpc>
              <a:buFont typeface="Arial" panose="020B0604020202020204" pitchFamily="34" charset="0"/>
              <a:buChar char="•"/>
            </a:pPr>
            <a:r>
              <a:rPr lang="en-US" sz="2200" dirty="0" smtClean="0">
                <a:latin typeface="Times New Roman" pitchFamily="18" charset="0"/>
                <a:cs typeface="Times New Roman" pitchFamily="18" charset="0"/>
              </a:rPr>
              <a:t>Traditional manual systems are time-consuming, error-prone, and difficult to manage as the number of students and courses increases.</a:t>
            </a:r>
          </a:p>
          <a:p>
            <a:pPr marL="342900" indent="-342900" algn="just">
              <a:lnSpc>
                <a:spcPct val="150000"/>
              </a:lnSpc>
              <a:buFont typeface="Arial" panose="020B0604020202020204" pitchFamily="34" charset="0"/>
              <a:buChar char="•"/>
            </a:pPr>
            <a:r>
              <a:rPr lang="en-US" sz="2200" dirty="0" smtClean="0">
                <a:latin typeface="Times New Roman" pitchFamily="18" charset="0"/>
                <a:cs typeface="Times New Roman" pitchFamily="18" charset="0"/>
              </a:rPr>
              <a:t>An automated Course Registration System simplifies the process of handling student enrollments and improves overall efficiency.</a:t>
            </a:r>
          </a:p>
          <a:p>
            <a:pPr marL="342900" indent="-342900" algn="just">
              <a:lnSpc>
                <a:spcPct val="150000"/>
              </a:lnSpc>
              <a:buFont typeface="Arial" panose="020B0604020202020204" pitchFamily="34" charset="0"/>
              <a:buChar char="•"/>
            </a:pPr>
            <a:r>
              <a:rPr lang="en-US" sz="2200" dirty="0" smtClean="0">
                <a:latin typeface="Times New Roman" pitchFamily="18" charset="0"/>
                <a:cs typeface="Times New Roman" pitchFamily="18" charset="0"/>
              </a:rPr>
              <a:t>An automated Course Registration System simplifies the process of handling student enrollments and improves overall efficiency.</a:t>
            </a:r>
            <a:endParaRPr lang="en-IN" sz="2200" dirty="0">
              <a:latin typeface="Times New Roman" pitchFamily="18" charset="0"/>
              <a:cs typeface="Times New Roman" pitchFamily="18" charset="0"/>
            </a:endParaRPr>
          </a:p>
        </p:txBody>
      </p:sp>
    </p:spTree>
    <p:extLst>
      <p:ext uri="{BB962C8B-B14F-4D97-AF65-F5344CB8AC3E}">
        <p14:creationId xmlns="" xmlns:p14="http://schemas.microsoft.com/office/powerpoint/2010/main" val="86789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 xmlns:a16="http://schemas.microsoft.com/office/drawing/2014/main" id="{D80E80D0-6F89-D49C-8F71-3B704975761E}"/>
              </a:ext>
            </a:extLst>
          </p:cNvPr>
          <p:cNvSpPr txBox="1"/>
          <p:nvPr/>
        </p:nvSpPr>
        <p:spPr>
          <a:xfrm>
            <a:off x="3917781" y="332823"/>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SYSTEM ANALYSIS</a:t>
            </a:r>
          </a:p>
        </p:txBody>
      </p:sp>
      <p:sp>
        <p:nvSpPr>
          <p:cNvPr id="16" name="TextBox 15">
            <a:extLst>
              <a:ext uri="{FF2B5EF4-FFF2-40B4-BE49-F238E27FC236}">
                <a16:creationId xmlns="" xmlns:a16="http://schemas.microsoft.com/office/drawing/2014/main" id="{85EA2366-D5A3-7AD8-E7B4-472C3227ADC8}"/>
              </a:ext>
            </a:extLst>
          </p:cNvPr>
          <p:cNvSpPr txBox="1"/>
          <p:nvPr/>
        </p:nvSpPr>
        <p:spPr>
          <a:xfrm>
            <a:off x="762000" y="1322610"/>
            <a:ext cx="8534400" cy="5139869"/>
          </a:xfrm>
          <a:prstGeom prst="rect">
            <a:avLst/>
          </a:prstGeom>
          <a:noFill/>
        </p:spPr>
        <p:txBody>
          <a:bodyPr wrap="square" rtlCol="0">
            <a:spAutoFit/>
          </a:bodyPr>
          <a:lstStyle/>
          <a:p>
            <a:pPr algn="just">
              <a:spcBef>
                <a:spcPts val="1200"/>
              </a:spcBef>
            </a:pPr>
            <a:r>
              <a:rPr lang="en-US" sz="2400" b="1" dirty="0">
                <a:latin typeface="Times New Roman" panose="02020603050405020304" pitchFamily="18" charset="0"/>
                <a:cs typeface="Times New Roman" panose="02020603050405020304" pitchFamily="18" charset="0"/>
              </a:rPr>
              <a:t>Functional Requirements:</a:t>
            </a:r>
          </a:p>
          <a:p>
            <a:pPr marL="285750" lvl="2" indent="-285750" algn="just">
              <a:lnSpc>
                <a:spcPct val="150000"/>
              </a:lnSpc>
              <a:spcBef>
                <a:spcPts val="1200"/>
              </a:spcBef>
              <a:buFont typeface="Arial" panose="020B0604020202020204" pitchFamily="34" charset="0"/>
              <a:buChar char="•"/>
            </a:pPr>
            <a:r>
              <a:rPr lang="en-US" sz="2200" dirty="0" smtClean="0">
                <a:latin typeface="Times New Roman" pitchFamily="18" charset="0"/>
                <a:cs typeface="Times New Roman" pitchFamily="18" charset="0"/>
              </a:rPr>
              <a:t>The system allows adding new student details such as Student ID, name, course, duration, and contact information.</a:t>
            </a:r>
          </a:p>
          <a:p>
            <a:pPr marL="285750" lvl="2" indent="-285750" algn="just">
              <a:lnSpc>
                <a:spcPct val="150000"/>
              </a:lnSpc>
              <a:spcBef>
                <a:spcPts val="1200"/>
              </a:spcBef>
              <a:buFont typeface="Arial" panose="020B0604020202020204" pitchFamily="34" charset="0"/>
              <a:buChar char="•"/>
            </a:pPr>
            <a:r>
              <a:rPr lang="en-US" sz="2200" dirty="0" smtClean="0">
                <a:latin typeface="Times New Roman" pitchFamily="18" charset="0"/>
                <a:cs typeface="Times New Roman" pitchFamily="18" charset="0"/>
              </a:rPr>
              <a:t>It provides functionality to update existing student and course records whenever required.</a:t>
            </a:r>
          </a:p>
          <a:p>
            <a:pPr marL="285750" lvl="2" indent="-285750" algn="just">
              <a:lnSpc>
                <a:spcPct val="150000"/>
              </a:lnSpc>
              <a:spcBef>
                <a:spcPts val="1200"/>
              </a:spcBef>
              <a:buFont typeface="Arial" panose="020B0604020202020204" pitchFamily="34" charset="0"/>
              <a:buChar char="•"/>
            </a:pPr>
            <a:r>
              <a:rPr lang="en-US" sz="2200" dirty="0" smtClean="0">
                <a:latin typeface="Times New Roman" pitchFamily="18" charset="0"/>
                <a:cs typeface="Times New Roman" pitchFamily="18" charset="0"/>
              </a:rPr>
              <a:t>Authorized users can delete student or course information with proper confirmation.</a:t>
            </a:r>
          </a:p>
          <a:p>
            <a:pPr marL="285750" lvl="2" indent="-285750" algn="just">
              <a:lnSpc>
                <a:spcPct val="150000"/>
              </a:lnSpc>
              <a:spcBef>
                <a:spcPts val="1200"/>
              </a:spcBef>
              <a:buFont typeface="Arial" panose="020B0604020202020204" pitchFamily="34" charset="0"/>
              <a:buChar char="•"/>
            </a:pPr>
            <a:r>
              <a:rPr lang="en-US" sz="2200" dirty="0" smtClean="0">
                <a:latin typeface="Times New Roman" pitchFamily="18" charset="0"/>
                <a:cs typeface="Times New Roman" pitchFamily="18" charset="0"/>
              </a:rPr>
              <a:t>The system supports searching students using Student ID or Name for quick access.</a:t>
            </a:r>
            <a:endParaRPr lang="en-US" sz="2200" dirty="0">
              <a:latin typeface="Times New Roman" pitchFamily="18" charset="0"/>
              <a:cs typeface="Times New Roman" pitchFamily="18" charset="0"/>
            </a:endParaRPr>
          </a:p>
        </p:txBody>
      </p:sp>
      <p:pic>
        <p:nvPicPr>
          <p:cNvPr id="17" name="object 3">
            <a:extLst>
              <a:ext uri="{FF2B5EF4-FFF2-40B4-BE49-F238E27FC236}">
                <a16:creationId xmlns=""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 xmlns:p14="http://schemas.microsoft.com/office/powerpoint/2010/main" val="4273835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 xmlns:a16="http://schemas.microsoft.com/office/drawing/2014/main" id="{D80E80D0-6F89-D49C-8F71-3B704975761E}"/>
              </a:ext>
            </a:extLst>
          </p:cNvPr>
          <p:cNvSpPr txBox="1"/>
          <p:nvPr/>
        </p:nvSpPr>
        <p:spPr>
          <a:xfrm>
            <a:off x="3810000" y="342558"/>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SYSTEM ANALYSIS</a:t>
            </a:r>
          </a:p>
        </p:txBody>
      </p:sp>
      <p:sp>
        <p:nvSpPr>
          <p:cNvPr id="16" name="TextBox 15">
            <a:extLst>
              <a:ext uri="{FF2B5EF4-FFF2-40B4-BE49-F238E27FC236}">
                <a16:creationId xmlns="" xmlns:a16="http://schemas.microsoft.com/office/drawing/2014/main" id="{85EA2366-D5A3-7AD8-E7B4-472C3227ADC8}"/>
              </a:ext>
            </a:extLst>
          </p:cNvPr>
          <p:cNvSpPr txBox="1"/>
          <p:nvPr/>
        </p:nvSpPr>
        <p:spPr>
          <a:xfrm>
            <a:off x="987471" y="1053128"/>
            <a:ext cx="8305800" cy="6633354"/>
          </a:xfrm>
          <a:prstGeom prst="rect">
            <a:avLst/>
          </a:prstGeom>
          <a:noFill/>
        </p:spPr>
        <p:txBody>
          <a:bodyPr wrap="square" rtlCol="0">
            <a:spAutoFit/>
          </a:bodyPr>
          <a:lstStyle/>
          <a:p>
            <a:pPr>
              <a:lnSpc>
                <a:spcPct val="150000"/>
              </a:lnSpc>
            </a:pPr>
            <a:r>
              <a:rPr lang="en-IN" sz="2200" b="1" dirty="0">
                <a:latin typeface="Times New Roman" panose="02020603050405020304" pitchFamily="18" charset="0"/>
                <a:cs typeface="Times New Roman" panose="02020603050405020304" pitchFamily="18" charset="0"/>
              </a:rPr>
              <a:t>Hardware Requirements</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Processor: Intel i3 or above</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RAM: Minimum 4 GB</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Storage: 20 GB</a:t>
            </a: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Input Devices: Keyboard, Mouse</a:t>
            </a: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Output Device: Monitor</a:t>
            </a:r>
          </a:p>
          <a:p>
            <a:pPr>
              <a:lnSpc>
                <a:spcPct val="150000"/>
              </a:lnSpc>
            </a:pPr>
            <a:endParaRPr lang="en-IN" sz="1100" dirty="0">
              <a:latin typeface="Times New Roman" panose="02020603050405020304" pitchFamily="18" charset="0"/>
              <a:cs typeface="Times New Roman" panose="02020603050405020304" pitchFamily="18" charset="0"/>
            </a:endParaRPr>
          </a:p>
          <a:p>
            <a:pPr>
              <a:lnSpc>
                <a:spcPct val="150000"/>
              </a:lnSpc>
            </a:pPr>
            <a:r>
              <a:rPr lang="en-IN" sz="2200" b="1" dirty="0">
                <a:latin typeface="Times New Roman" panose="02020603050405020304" pitchFamily="18" charset="0"/>
                <a:cs typeface="Times New Roman" panose="02020603050405020304" pitchFamily="18" charset="0"/>
              </a:rPr>
              <a:t>Software Requirements</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Operating System: Windows / Linux</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Programming Language: Java (JDK 8 or above)</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IDE: VS Code / Eclipse / IntelliJ IDEA</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Database: MySQL / SQLite</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GitHub (for version control)</a:t>
            </a:r>
          </a:p>
        </p:txBody>
      </p:sp>
      <p:pic>
        <p:nvPicPr>
          <p:cNvPr id="17" name="object 3">
            <a:extLst>
              <a:ext uri="{FF2B5EF4-FFF2-40B4-BE49-F238E27FC236}">
                <a16:creationId xmlns=""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 xmlns:p14="http://schemas.microsoft.com/office/powerpoint/2010/main" val="22720524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D33C03A-992A-CEAD-5FB8-686527824E66}"/>
            </a:ext>
          </a:extLst>
        </p:cNvPr>
        <p:cNvGrpSpPr/>
        <p:nvPr/>
      </p:nvGrpSpPr>
      <p:grpSpPr>
        <a:xfrm>
          <a:off x="0" y="0"/>
          <a:ext cx="0" cy="0"/>
          <a:chOff x="0" y="0"/>
          <a:chExt cx="0" cy="0"/>
        </a:xfrm>
      </p:grpSpPr>
      <p:grpSp>
        <p:nvGrpSpPr>
          <p:cNvPr id="5" name="object 3">
            <a:extLst>
              <a:ext uri="{FF2B5EF4-FFF2-40B4-BE49-F238E27FC236}">
                <a16:creationId xmlns="" xmlns:a16="http://schemas.microsoft.com/office/drawing/2014/main" id="{EA7C8F04-95CA-C1E0-BFA2-4BFACD89E6B8}"/>
              </a:ext>
            </a:extLst>
          </p:cNvPr>
          <p:cNvGrpSpPr/>
          <p:nvPr/>
        </p:nvGrpSpPr>
        <p:grpSpPr>
          <a:xfrm>
            <a:off x="2590800" y="152400"/>
            <a:ext cx="5103904" cy="1198311"/>
            <a:chOff x="2648188" y="47148"/>
            <a:chExt cx="5103904" cy="1198311"/>
          </a:xfrm>
        </p:grpSpPr>
        <p:pic>
          <p:nvPicPr>
            <p:cNvPr id="6" name="object 4">
              <a:extLst>
                <a:ext uri="{FF2B5EF4-FFF2-40B4-BE49-F238E27FC236}">
                  <a16:creationId xmlns="" xmlns:a16="http://schemas.microsoft.com/office/drawing/2014/main" id="{B989C992-155F-6A68-0B08-3B39FFBAA62F}"/>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 xmlns:a16="http://schemas.microsoft.com/office/drawing/2014/main" id="{D031E1F9-FB82-922E-C796-97077F94E70F}"/>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 xmlns:a16="http://schemas.microsoft.com/office/drawing/2014/main" id="{8EAA2CC3-9696-811E-B5BE-5C1848177706}"/>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 xmlns:a16="http://schemas.microsoft.com/office/drawing/2014/main" id="{F65D09F8-C17C-F03E-88B8-4942A39F209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 xmlns:a16="http://schemas.microsoft.com/office/drawing/2014/main" id="{65154CDE-FB1D-92DB-77E9-9CDAB77B8835}"/>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 xmlns:a16="http://schemas.microsoft.com/office/drawing/2014/main" id="{5E89CD20-90CB-480C-A4EB-EC7405BED441}"/>
              </a:ext>
            </a:extLst>
          </p:cNvPr>
          <p:cNvPicPr/>
          <p:nvPr/>
        </p:nvPicPr>
        <p:blipFill>
          <a:blip r:embed="rId6" cstate="print"/>
          <a:stretch>
            <a:fillRect/>
          </a:stretch>
        </p:blipFill>
        <p:spPr>
          <a:xfrm>
            <a:off x="290750" y="204311"/>
            <a:ext cx="1163002" cy="424338"/>
          </a:xfrm>
          <a:prstGeom prst="rect">
            <a:avLst/>
          </a:prstGeom>
        </p:spPr>
      </p:pic>
      <p:sp>
        <p:nvSpPr>
          <p:cNvPr id="12" name="TextBox 11">
            <a:extLst>
              <a:ext uri="{FF2B5EF4-FFF2-40B4-BE49-F238E27FC236}">
                <a16:creationId xmlns="" xmlns:a16="http://schemas.microsoft.com/office/drawing/2014/main" id="{4CDD3B24-C6E3-C570-0D11-D85BD4A44819}"/>
              </a:ext>
            </a:extLst>
          </p:cNvPr>
          <p:cNvSpPr txBox="1"/>
          <p:nvPr/>
        </p:nvSpPr>
        <p:spPr>
          <a:xfrm>
            <a:off x="459209" y="1219200"/>
            <a:ext cx="9498113" cy="5740033"/>
          </a:xfrm>
          <a:prstGeom prst="rect">
            <a:avLst/>
          </a:prstGeom>
          <a:noFill/>
        </p:spPr>
        <p:txBody>
          <a:bodyPr wrap="square" rtlCol="0">
            <a:spAutoFit/>
          </a:bodyPr>
          <a:lstStyle/>
          <a:p>
            <a:pPr>
              <a:lnSpc>
                <a:spcPct val="150000"/>
              </a:lnSpc>
            </a:pPr>
            <a:r>
              <a:rPr lang="en-US" sz="2200" dirty="0" smtClean="0">
                <a:latin typeface="Times New Roman" pitchFamily="18" charset="0"/>
                <a:cs typeface="Times New Roman" pitchFamily="18" charset="0"/>
              </a:rPr>
              <a:t>• The system uses a relational database to store student and course information</a:t>
            </a:r>
          </a:p>
          <a:p>
            <a:pPr>
              <a:lnSpc>
                <a:spcPct val="150000"/>
              </a:lnSpc>
            </a:pPr>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  efficiently. </a:t>
            </a:r>
          </a:p>
          <a:p>
            <a:pPr>
              <a:lnSpc>
                <a:spcPct val="150000"/>
              </a:lnSpc>
            </a:pPr>
            <a:r>
              <a:rPr lang="en-US" sz="2200" dirty="0" smtClean="0">
                <a:latin typeface="Times New Roman" pitchFamily="18" charset="0"/>
                <a:cs typeface="Times New Roman" pitchFamily="18" charset="0"/>
              </a:rPr>
              <a:t>    It consists of  two main tables:</a:t>
            </a:r>
          </a:p>
          <a:p>
            <a:pPr marL="457200" lvl="2" indent="-457200" algn="l">
              <a:lnSpc>
                <a:spcPct val="150000"/>
              </a:lnSpc>
            </a:pPr>
            <a:r>
              <a:rPr lang="en-US" sz="2200" dirty="0">
                <a:latin typeface="Times New Roman" panose="02020603050405020304" pitchFamily="18" charset="0"/>
                <a:cs typeface="Times New Roman" panose="02020603050405020304" pitchFamily="18" charset="0"/>
              </a:rPr>
              <a:t> </a:t>
            </a:r>
            <a:r>
              <a:rPr lang="en-US" sz="2200" dirty="0" smtClean="0">
                <a:latin typeface="Times New Roman" panose="02020603050405020304" pitchFamily="18" charset="0"/>
                <a:cs typeface="Times New Roman" panose="02020603050405020304" pitchFamily="18" charset="0"/>
              </a:rPr>
              <a:t>                 </a:t>
            </a:r>
            <a:r>
              <a:rPr lang="en-US" sz="2200" dirty="0" smtClean="0">
                <a:latin typeface="Times New Roman" panose="02020603050405020304" pitchFamily="18" charset="0"/>
                <a:cs typeface="Times New Roman" panose="02020603050405020304" pitchFamily="18" charset="0"/>
                <a:sym typeface="Wingdings" pitchFamily="2" charset="2"/>
              </a:rPr>
              <a:t>Admin</a:t>
            </a:r>
            <a:r>
              <a:rPr lang="en-US" sz="2200" dirty="0" smtClean="0">
                <a:latin typeface="Times New Roman" panose="02020603050405020304" pitchFamily="18" charset="0"/>
                <a:cs typeface="Times New Roman" panose="02020603050405020304" pitchFamily="18" charset="0"/>
              </a:rPr>
              <a:t> Table</a:t>
            </a:r>
          </a:p>
          <a:p>
            <a:pPr marL="457200" lvl="2" indent="-457200" algn="l">
              <a:lnSpc>
                <a:spcPct val="150000"/>
              </a:lnSpc>
            </a:pPr>
            <a:r>
              <a:rPr lang="en-US" sz="2200" dirty="0">
                <a:latin typeface="Times New Roman" panose="02020603050405020304" pitchFamily="18" charset="0"/>
                <a:cs typeface="Times New Roman" panose="02020603050405020304" pitchFamily="18" charset="0"/>
              </a:rPr>
              <a:t> </a:t>
            </a:r>
            <a:r>
              <a:rPr lang="en-US" sz="2200" dirty="0" smtClean="0">
                <a:latin typeface="Times New Roman" panose="02020603050405020304" pitchFamily="18" charset="0"/>
                <a:cs typeface="Times New Roman" panose="02020603050405020304" pitchFamily="18" charset="0"/>
              </a:rPr>
              <a:t>                 </a:t>
            </a:r>
            <a:r>
              <a:rPr lang="en-US" sz="2200" dirty="0" smtClean="0">
                <a:latin typeface="Times New Roman" panose="02020603050405020304" pitchFamily="18" charset="0"/>
                <a:cs typeface="Times New Roman" panose="02020603050405020304" pitchFamily="18" charset="0"/>
                <a:sym typeface="Wingdings" pitchFamily="2" charset="2"/>
              </a:rPr>
              <a:t>Student</a:t>
            </a:r>
            <a:r>
              <a:rPr lang="en-US" sz="2200" dirty="0" smtClean="0">
                <a:latin typeface="Times New Roman" pitchFamily="18" charset="0"/>
                <a:cs typeface="Times New Roman" pitchFamily="18" charset="0"/>
              </a:rPr>
              <a:t> Table</a:t>
            </a:r>
          </a:p>
          <a:p>
            <a:pPr marL="457200" lvl="2" indent="-457200" algn="l">
              <a:lnSpc>
                <a:spcPct val="150000"/>
              </a:lnSpc>
              <a:buFont typeface="Arial" pitchFamily="34" charset="0"/>
              <a:buChar char="•"/>
            </a:pPr>
            <a:r>
              <a:rPr lang="en-US" sz="2200" dirty="0" smtClean="0">
                <a:latin typeface="Times New Roman" pitchFamily="18" charset="0"/>
                <a:cs typeface="Times New Roman" pitchFamily="18" charset="0"/>
              </a:rPr>
              <a:t>The design helps in reducing data redundancy and improving data      organization. </a:t>
            </a:r>
          </a:p>
          <a:p>
            <a:pPr algn="l">
              <a:lnSpc>
                <a:spcPct val="150000"/>
              </a:lnSpc>
              <a:buFont typeface="Arial" pitchFamily="34" charset="0"/>
              <a:buChar char="•"/>
            </a:pPr>
            <a:r>
              <a:rPr lang="en-US" sz="2200" dirty="0" smtClean="0">
                <a:latin typeface="Times New Roman" pitchFamily="18" charset="0"/>
                <a:cs typeface="Times New Roman" pitchFamily="18" charset="0"/>
              </a:rPr>
              <a:t>      Each student is linked to a course using a foreign key relationship through the </a:t>
            </a:r>
          </a:p>
          <a:p>
            <a:pPr algn="l">
              <a:lnSpc>
                <a:spcPct val="150000"/>
              </a:lnSpc>
            </a:pPr>
            <a:r>
              <a:rPr lang="en-US" sz="2200" dirty="0" smtClean="0">
                <a:latin typeface="Times New Roman" pitchFamily="18" charset="0"/>
                <a:cs typeface="Times New Roman" pitchFamily="18" charset="0"/>
              </a:rPr>
              <a:t>        registration table.</a:t>
            </a:r>
            <a:endParaRPr lang="en-US" sz="2200" dirty="0">
              <a:latin typeface="Times New Roman" pitchFamily="18" charset="0"/>
              <a:cs typeface="Times New Roman" pitchFamily="18" charset="0"/>
            </a:endParaRPr>
          </a:p>
          <a:p>
            <a:pPr marL="285750" lvl="2" indent="-285750" algn="l">
              <a:lnSpc>
                <a:spcPct val="150000"/>
              </a:lnSpc>
              <a:spcBef>
                <a:spcPts val="1200"/>
              </a:spcBef>
              <a:buFont typeface="Arial" pitchFamily="34" charset="0"/>
              <a:buChar char="•"/>
            </a:pPr>
            <a:r>
              <a:rPr lang="en-US" sz="2200" dirty="0" smtClean="0">
                <a:latin typeface="Times New Roman" pitchFamily="18" charset="0"/>
                <a:cs typeface="Times New Roman" pitchFamily="18" charset="0"/>
              </a:rPr>
              <a:t>   The database ensures data integrity using primary keys and constraints.</a:t>
            </a:r>
            <a:endParaRPr lang="en-US" sz="2200" dirty="0">
              <a:latin typeface="Times New Roman" panose="02020603050405020304" pitchFamily="18" charset="0"/>
              <a:cs typeface="Times New Roman" panose="02020603050405020304" pitchFamily="18" charset="0"/>
            </a:endParaRPr>
          </a:p>
          <a:p>
            <a:pPr>
              <a:lnSpc>
                <a:spcPct val="150000"/>
              </a:lnSpc>
            </a:pPr>
            <a:endParaRPr lang="en-IN" dirty="0"/>
          </a:p>
        </p:txBody>
      </p:sp>
    </p:spTree>
    <p:extLst>
      <p:ext uri="{BB962C8B-B14F-4D97-AF65-F5344CB8AC3E}">
        <p14:creationId xmlns="" xmlns:p14="http://schemas.microsoft.com/office/powerpoint/2010/main" val="891828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4E440B4-B462-F22D-0950-B6710CF9EA51}"/>
            </a:ext>
          </a:extLst>
        </p:cNvPr>
        <p:cNvGrpSpPr/>
        <p:nvPr/>
      </p:nvGrpSpPr>
      <p:grpSpPr>
        <a:xfrm>
          <a:off x="0" y="0"/>
          <a:ext cx="0" cy="0"/>
          <a:chOff x="0" y="0"/>
          <a:chExt cx="0" cy="0"/>
        </a:xfrm>
      </p:grpSpPr>
      <p:grpSp>
        <p:nvGrpSpPr>
          <p:cNvPr id="5" name="object 3">
            <a:extLst>
              <a:ext uri="{FF2B5EF4-FFF2-40B4-BE49-F238E27FC236}">
                <a16:creationId xmlns="" xmlns:a16="http://schemas.microsoft.com/office/drawing/2014/main" id="{D4A9BBA5-9A38-1657-0653-14EC0D3B9CE4}"/>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 xmlns:a16="http://schemas.microsoft.com/office/drawing/2014/main" id="{6656BA03-D3A4-CDEA-202C-38C81F635B72}"/>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 xmlns:a16="http://schemas.microsoft.com/office/drawing/2014/main" id="{4C109C39-054A-E81F-70B9-386F94A44C3C}"/>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 xmlns:a16="http://schemas.microsoft.com/office/drawing/2014/main" id="{1533A0EA-DA31-1EB6-ADF3-083AD01A4E88}"/>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 xmlns:a16="http://schemas.microsoft.com/office/drawing/2014/main" id="{0E8E014C-4F7F-C10B-D153-7578A6AE564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 xmlns:a16="http://schemas.microsoft.com/office/drawing/2014/main" id="{E5ECF7B6-4D35-5116-1FBA-A710C58C5A84}"/>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 xmlns:a16="http://schemas.microsoft.com/office/drawing/2014/main" id="{98FBF8DD-4922-6047-5E1A-EAFBB22DFB9B}"/>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 xmlns:a16="http://schemas.microsoft.com/office/drawing/2014/main" id="{36FE3A23-6F7A-9CD3-0012-E9E7C7331AAD}"/>
              </a:ext>
            </a:extLst>
          </p:cNvPr>
          <p:cNvSpPr txBox="1"/>
          <p:nvPr/>
        </p:nvSpPr>
        <p:spPr>
          <a:xfrm>
            <a:off x="290750" y="1353220"/>
            <a:ext cx="458526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Database Tables:</a:t>
            </a:r>
          </a:p>
        </p:txBody>
      </p:sp>
      <p:sp>
        <p:nvSpPr>
          <p:cNvPr id="12" name="TextBox 11">
            <a:extLst>
              <a:ext uri="{FF2B5EF4-FFF2-40B4-BE49-F238E27FC236}">
                <a16:creationId xmlns="" xmlns:a16="http://schemas.microsoft.com/office/drawing/2014/main" id="{DB0D226A-4905-9A23-644C-CE3991C38936}"/>
              </a:ext>
            </a:extLst>
          </p:cNvPr>
          <p:cNvSpPr txBox="1"/>
          <p:nvPr/>
        </p:nvSpPr>
        <p:spPr>
          <a:xfrm>
            <a:off x="533400" y="2005523"/>
            <a:ext cx="8366948" cy="646331"/>
          </a:xfrm>
          <a:prstGeom prst="rect">
            <a:avLst/>
          </a:prstGeom>
          <a:noFill/>
        </p:spPr>
        <p:txBody>
          <a:bodyPr wrap="square">
            <a:spAutoFit/>
          </a:bodyPr>
          <a:lstStyle/>
          <a:p>
            <a:r>
              <a:rPr lang="en-US" b="1" dirty="0" smtClean="0"/>
              <a:t>Admin Table :</a:t>
            </a:r>
            <a:r>
              <a:rPr lang="en-US" dirty="0"/>
              <a:t>		</a:t>
            </a:r>
            <a:endParaRPr lang="en-US" dirty="0" smtClean="0"/>
          </a:p>
          <a:p>
            <a:r>
              <a:rPr lang="en-US" dirty="0"/>
              <a:t>	</a:t>
            </a:r>
            <a:r>
              <a:rPr lang="en-US" dirty="0" smtClean="0"/>
              <a:t>Stores admin login and management details.</a:t>
            </a:r>
            <a:endParaRPr lang="en-IN" b="1" dirty="0"/>
          </a:p>
        </p:txBody>
      </p:sp>
      <p:graphicFrame>
        <p:nvGraphicFramePr>
          <p:cNvPr id="16" name="Table 15"/>
          <p:cNvGraphicFramePr>
            <a:graphicFrameLocks noGrp="1"/>
          </p:cNvGraphicFramePr>
          <p:nvPr/>
        </p:nvGraphicFramePr>
        <p:xfrm>
          <a:off x="1676400" y="3581400"/>
          <a:ext cx="6477000" cy="381000"/>
        </p:xfrm>
        <a:graphic>
          <a:graphicData uri="http://schemas.openxmlformats.org/drawingml/2006/table">
            <a:tbl>
              <a:tblPr/>
              <a:tblGrid>
                <a:gridCol w="6477000"/>
              </a:tblGrid>
              <a:tr h="381000">
                <a:tc>
                  <a:txBody>
                    <a:bodyPr/>
                    <a:lstStyle/>
                    <a:p>
                      <a:endParaRPr lang="en-US" dirty="0"/>
                    </a:p>
                  </a:txBody>
                  <a:tcPr anchor="ctr">
                    <a:lnL>
                      <a:noFill/>
                    </a:lnL>
                    <a:lnR>
                      <a:noFill/>
                    </a:lnR>
                    <a:lnT>
                      <a:noFill/>
                    </a:lnT>
                    <a:lnB>
                      <a:noFill/>
                    </a:lnB>
                  </a:tcPr>
                </a:tc>
              </a:tr>
            </a:tbl>
          </a:graphicData>
        </a:graphic>
      </p:graphicFrame>
      <p:pic>
        <p:nvPicPr>
          <p:cNvPr id="2050" name="Picture 2"/>
          <p:cNvPicPr>
            <a:picLocks noChangeAspect="1" noChangeArrowheads="1"/>
          </p:cNvPicPr>
          <p:nvPr/>
        </p:nvPicPr>
        <p:blipFill>
          <a:blip r:embed="rId7"/>
          <a:srcRect/>
          <a:stretch>
            <a:fillRect/>
          </a:stretch>
        </p:blipFill>
        <p:spPr bwMode="auto">
          <a:xfrm>
            <a:off x="1524000" y="2895600"/>
            <a:ext cx="7086600" cy="3657600"/>
          </a:xfrm>
          <a:prstGeom prst="rect">
            <a:avLst/>
          </a:prstGeom>
          <a:noFill/>
          <a:ln w="9525">
            <a:noFill/>
            <a:miter lim="800000"/>
            <a:headEnd/>
            <a:tailEnd/>
          </a:ln>
          <a:effectLst/>
        </p:spPr>
      </p:pic>
    </p:spTree>
    <p:extLst>
      <p:ext uri="{BB962C8B-B14F-4D97-AF65-F5344CB8AC3E}">
        <p14:creationId xmlns="" xmlns:p14="http://schemas.microsoft.com/office/powerpoint/2010/main" val="2565870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C7A0787-E769-8B37-025D-041FF5E1BF90}"/>
            </a:ext>
          </a:extLst>
        </p:cNvPr>
        <p:cNvGrpSpPr/>
        <p:nvPr/>
      </p:nvGrpSpPr>
      <p:grpSpPr>
        <a:xfrm>
          <a:off x="0" y="0"/>
          <a:ext cx="0" cy="0"/>
          <a:chOff x="0" y="0"/>
          <a:chExt cx="0" cy="0"/>
        </a:xfrm>
      </p:grpSpPr>
      <p:grpSp>
        <p:nvGrpSpPr>
          <p:cNvPr id="5" name="object 3">
            <a:extLst>
              <a:ext uri="{FF2B5EF4-FFF2-40B4-BE49-F238E27FC236}">
                <a16:creationId xmlns="" xmlns:a16="http://schemas.microsoft.com/office/drawing/2014/main" id="{3476D6BF-13C6-C6B0-36DF-F1559314FAB1}"/>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 xmlns:a16="http://schemas.microsoft.com/office/drawing/2014/main" id="{70BE4208-2AED-46E3-654C-0DE2B83F7F41}"/>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 xmlns:a16="http://schemas.microsoft.com/office/drawing/2014/main" id="{8994CB99-6727-2B94-DE57-F503E8F8FB69}"/>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 xmlns:a16="http://schemas.microsoft.com/office/drawing/2014/main" id="{2851F0DB-95C6-22C8-2435-DA8595A2F763}"/>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 xmlns:a16="http://schemas.microsoft.com/office/drawing/2014/main" id="{7689328C-CC9D-EEE6-AEF0-27195081DA2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 xmlns:a16="http://schemas.microsoft.com/office/drawing/2014/main" id="{ECEAD52A-D6BA-B4AE-C1E4-8A54366273AF}"/>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 xmlns:a16="http://schemas.microsoft.com/office/drawing/2014/main" id="{FAB0F939-F8B0-7014-4713-2E3FA82313DF}"/>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 xmlns:a16="http://schemas.microsoft.com/office/drawing/2014/main" id="{CD205DEE-CF0B-DBC2-E5CD-2C4FB4661C9F}"/>
              </a:ext>
            </a:extLst>
          </p:cNvPr>
          <p:cNvSpPr txBox="1"/>
          <p:nvPr/>
        </p:nvSpPr>
        <p:spPr>
          <a:xfrm>
            <a:off x="290750" y="1353220"/>
            <a:ext cx="458526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Database Tables:</a:t>
            </a:r>
          </a:p>
        </p:txBody>
      </p:sp>
      <p:sp>
        <p:nvSpPr>
          <p:cNvPr id="12" name="TextBox 11">
            <a:extLst>
              <a:ext uri="{FF2B5EF4-FFF2-40B4-BE49-F238E27FC236}">
                <a16:creationId xmlns="" xmlns:a16="http://schemas.microsoft.com/office/drawing/2014/main" id="{2B7D6DA8-89F8-4CB4-20B5-36719C763BE0}"/>
              </a:ext>
            </a:extLst>
          </p:cNvPr>
          <p:cNvSpPr txBox="1"/>
          <p:nvPr/>
        </p:nvSpPr>
        <p:spPr>
          <a:xfrm>
            <a:off x="533400" y="2005523"/>
            <a:ext cx="8366948" cy="646331"/>
          </a:xfrm>
          <a:prstGeom prst="rect">
            <a:avLst/>
          </a:prstGeom>
          <a:noFill/>
        </p:spPr>
        <p:txBody>
          <a:bodyPr wrap="square">
            <a:spAutoFit/>
          </a:bodyPr>
          <a:lstStyle/>
          <a:p>
            <a:r>
              <a:rPr lang="en-US" b="1" dirty="0" smtClean="0"/>
              <a:t>Student Table :</a:t>
            </a:r>
          </a:p>
          <a:p>
            <a:r>
              <a:rPr lang="en-US" dirty="0"/>
              <a:t>	</a:t>
            </a:r>
            <a:r>
              <a:rPr lang="en-US" dirty="0" smtClean="0"/>
              <a:t>Stores student details and login information</a:t>
            </a:r>
            <a:endParaRPr lang="en-IN" b="1" dirty="0"/>
          </a:p>
        </p:txBody>
      </p:sp>
      <p:pic>
        <p:nvPicPr>
          <p:cNvPr id="1028" name="Picture 4"/>
          <p:cNvPicPr>
            <a:picLocks noChangeAspect="1" noChangeArrowheads="1"/>
          </p:cNvPicPr>
          <p:nvPr/>
        </p:nvPicPr>
        <p:blipFill>
          <a:blip r:embed="rId7"/>
          <a:srcRect/>
          <a:stretch>
            <a:fillRect/>
          </a:stretch>
        </p:blipFill>
        <p:spPr bwMode="auto">
          <a:xfrm>
            <a:off x="1447800" y="3048000"/>
            <a:ext cx="7086600" cy="3429000"/>
          </a:xfrm>
          <a:prstGeom prst="rect">
            <a:avLst/>
          </a:prstGeom>
          <a:noFill/>
          <a:ln w="9525">
            <a:noFill/>
            <a:miter lim="800000"/>
            <a:headEnd/>
            <a:tailEnd/>
          </a:ln>
          <a:effectLst/>
        </p:spPr>
      </p:pic>
    </p:spTree>
    <p:extLst>
      <p:ext uri="{BB962C8B-B14F-4D97-AF65-F5344CB8AC3E}">
        <p14:creationId xmlns="" xmlns:p14="http://schemas.microsoft.com/office/powerpoint/2010/main" val="1327093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12AF869-60E9-7283-1E5C-031B97BB287B}"/>
            </a:ext>
          </a:extLst>
        </p:cNvPr>
        <p:cNvGrpSpPr/>
        <p:nvPr/>
      </p:nvGrpSpPr>
      <p:grpSpPr>
        <a:xfrm>
          <a:off x="0" y="0"/>
          <a:ext cx="0" cy="0"/>
          <a:chOff x="0" y="0"/>
          <a:chExt cx="0" cy="0"/>
        </a:xfrm>
      </p:grpSpPr>
      <p:grpSp>
        <p:nvGrpSpPr>
          <p:cNvPr id="5" name="object 3">
            <a:extLst>
              <a:ext uri="{FF2B5EF4-FFF2-40B4-BE49-F238E27FC236}">
                <a16:creationId xmlns="" xmlns:a16="http://schemas.microsoft.com/office/drawing/2014/main" id="{D22CCC8F-8AC9-DA04-7DF6-792709DB8A61}"/>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 xmlns:a16="http://schemas.microsoft.com/office/drawing/2014/main" id="{D3CC7CDE-C0AA-8C40-F47A-6BB38775C793}"/>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 xmlns:a16="http://schemas.microsoft.com/office/drawing/2014/main" id="{251A7B03-12DB-BDB0-A823-3B5CC5C3EA9D}"/>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 xmlns:a16="http://schemas.microsoft.com/office/drawing/2014/main" id="{34C3D95F-A98E-C662-A8CA-7C226092743B}"/>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 xmlns:a16="http://schemas.microsoft.com/office/drawing/2014/main" id="{51ECD6EB-B411-BAC9-D612-83CAADD7C06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 xmlns:a16="http://schemas.microsoft.com/office/drawing/2014/main" id="{05340093-ADC0-C519-A46D-D43188C51895}"/>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 xmlns:a16="http://schemas.microsoft.com/office/drawing/2014/main" id="{EC0178A3-A864-AC29-8239-3EE3EEC824D7}"/>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 xmlns:a16="http://schemas.microsoft.com/office/drawing/2014/main" id="{88CC2DB0-515C-5729-13F5-411810B0A1D6}"/>
              </a:ext>
            </a:extLst>
          </p:cNvPr>
          <p:cNvSpPr txBox="1"/>
          <p:nvPr/>
        </p:nvSpPr>
        <p:spPr>
          <a:xfrm>
            <a:off x="290750" y="1353220"/>
            <a:ext cx="458526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Database Tables:</a:t>
            </a:r>
          </a:p>
        </p:txBody>
      </p:sp>
      <p:sp>
        <p:nvSpPr>
          <p:cNvPr id="12" name="TextBox 11">
            <a:extLst>
              <a:ext uri="{FF2B5EF4-FFF2-40B4-BE49-F238E27FC236}">
                <a16:creationId xmlns="" xmlns:a16="http://schemas.microsoft.com/office/drawing/2014/main" id="{BE4EB3E5-F5F4-BFDA-2030-B081D8DD8B72}"/>
              </a:ext>
            </a:extLst>
          </p:cNvPr>
          <p:cNvSpPr txBox="1"/>
          <p:nvPr/>
        </p:nvSpPr>
        <p:spPr>
          <a:xfrm>
            <a:off x="533400" y="2005523"/>
            <a:ext cx="8366948" cy="677108"/>
          </a:xfrm>
          <a:prstGeom prst="rect">
            <a:avLst/>
          </a:prstGeom>
          <a:noFill/>
        </p:spPr>
        <p:txBody>
          <a:bodyPr wrap="square">
            <a:spAutoFit/>
          </a:bodyPr>
          <a:lstStyle/>
          <a:p>
            <a:r>
              <a:rPr lang="en-US" b="1" dirty="0" smtClean="0"/>
              <a:t>Course Table :</a:t>
            </a:r>
          </a:p>
          <a:p>
            <a:r>
              <a:rPr lang="en-US" dirty="0"/>
              <a:t>		</a:t>
            </a:r>
            <a:r>
              <a:rPr lang="en-US" sz="2000" dirty="0" smtClean="0">
                <a:latin typeface="Times New Roman" pitchFamily="18" charset="0"/>
                <a:cs typeface="Times New Roman" pitchFamily="18" charset="0"/>
              </a:rPr>
              <a:t>Stores course details and related information.</a:t>
            </a:r>
            <a:endParaRPr lang="en-IN" sz="2000" dirty="0">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7"/>
          <a:srcRect/>
          <a:stretch>
            <a:fillRect/>
          </a:stretch>
        </p:blipFill>
        <p:spPr bwMode="auto">
          <a:xfrm>
            <a:off x="1524000" y="2971800"/>
            <a:ext cx="7315200" cy="3733800"/>
          </a:xfrm>
          <a:prstGeom prst="rect">
            <a:avLst/>
          </a:prstGeom>
          <a:noFill/>
          <a:ln w="9525">
            <a:noFill/>
            <a:miter lim="800000"/>
            <a:headEnd/>
            <a:tailEnd/>
          </a:ln>
          <a:effectLst/>
        </p:spPr>
      </p:pic>
    </p:spTree>
    <p:extLst>
      <p:ext uri="{BB962C8B-B14F-4D97-AF65-F5344CB8AC3E}">
        <p14:creationId xmlns="" xmlns:p14="http://schemas.microsoft.com/office/powerpoint/2010/main" val="1096694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66DDFE6-68D0-626B-CEA5-012AC4CE06D6}"/>
            </a:ext>
          </a:extLst>
        </p:cNvPr>
        <p:cNvGrpSpPr/>
        <p:nvPr/>
      </p:nvGrpSpPr>
      <p:grpSpPr>
        <a:xfrm>
          <a:off x="0" y="0"/>
          <a:ext cx="0" cy="0"/>
          <a:chOff x="0" y="0"/>
          <a:chExt cx="0" cy="0"/>
        </a:xfrm>
      </p:grpSpPr>
      <p:grpSp>
        <p:nvGrpSpPr>
          <p:cNvPr id="5" name="object 3">
            <a:extLst>
              <a:ext uri="{FF2B5EF4-FFF2-40B4-BE49-F238E27FC236}">
                <a16:creationId xmlns="" xmlns:a16="http://schemas.microsoft.com/office/drawing/2014/main" id="{6AB6B8D9-907C-14D3-FE13-17C6E6CA5738}"/>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 xmlns:a16="http://schemas.microsoft.com/office/drawing/2014/main" id="{F2F8D3D4-7414-5BC2-228C-E9103C17FB73}"/>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 xmlns:a16="http://schemas.microsoft.com/office/drawing/2014/main" id="{960E6045-C32B-45CA-9E5F-2D8B9813510D}"/>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 xmlns:a16="http://schemas.microsoft.com/office/drawing/2014/main" id="{841BB376-4DAB-084D-64E6-3760EA8F9DDD}"/>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 xmlns:a16="http://schemas.microsoft.com/office/drawing/2014/main" id="{E4FAF633-2235-2851-C3E8-F177ABCCA2F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 xmlns:a16="http://schemas.microsoft.com/office/drawing/2014/main" id="{C3F3E476-DF9A-C6ED-BCF5-6782970F311F}"/>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 xmlns:a16="http://schemas.microsoft.com/office/drawing/2014/main" id="{6F5A8444-086B-9125-6392-B400175A6B5B}"/>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 xmlns:a16="http://schemas.microsoft.com/office/drawing/2014/main" id="{FE2C5A62-55CB-BE52-28C1-9826A4970DAA}"/>
              </a:ext>
            </a:extLst>
          </p:cNvPr>
          <p:cNvSpPr txBox="1"/>
          <p:nvPr/>
        </p:nvSpPr>
        <p:spPr>
          <a:xfrm>
            <a:off x="290750" y="1353220"/>
            <a:ext cx="458526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Database Tables:</a:t>
            </a:r>
          </a:p>
        </p:txBody>
      </p:sp>
      <p:sp>
        <p:nvSpPr>
          <p:cNvPr id="12" name="TextBox 11">
            <a:extLst>
              <a:ext uri="{FF2B5EF4-FFF2-40B4-BE49-F238E27FC236}">
                <a16:creationId xmlns="" xmlns:a16="http://schemas.microsoft.com/office/drawing/2014/main" id="{7F5AECAB-ADA0-137A-8F14-77698E44A825}"/>
              </a:ext>
            </a:extLst>
          </p:cNvPr>
          <p:cNvSpPr txBox="1"/>
          <p:nvPr/>
        </p:nvSpPr>
        <p:spPr>
          <a:xfrm>
            <a:off x="533400" y="2005523"/>
            <a:ext cx="8366948" cy="646331"/>
          </a:xfrm>
          <a:prstGeom prst="rect">
            <a:avLst/>
          </a:prstGeom>
          <a:noFill/>
        </p:spPr>
        <p:txBody>
          <a:bodyPr wrap="square">
            <a:spAutoFit/>
          </a:bodyPr>
          <a:lstStyle/>
          <a:p>
            <a:r>
              <a:rPr lang="en-IN" b="1" dirty="0"/>
              <a:t>Login Table :</a:t>
            </a:r>
          </a:p>
          <a:p>
            <a:r>
              <a:rPr lang="en-US" dirty="0"/>
              <a:t>		</a:t>
            </a:r>
            <a:r>
              <a:rPr lang="en-US" dirty="0" smtClean="0"/>
              <a:t>Stores login credentials for admin and students</a:t>
            </a:r>
            <a:endParaRPr lang="en-IN" b="1" dirty="0"/>
          </a:p>
        </p:txBody>
      </p:sp>
      <p:pic>
        <p:nvPicPr>
          <p:cNvPr id="4098" name="Picture 2"/>
          <p:cNvPicPr>
            <a:picLocks noChangeAspect="1" noChangeArrowheads="1"/>
          </p:cNvPicPr>
          <p:nvPr/>
        </p:nvPicPr>
        <p:blipFill>
          <a:blip r:embed="rId7"/>
          <a:srcRect/>
          <a:stretch>
            <a:fillRect/>
          </a:stretch>
        </p:blipFill>
        <p:spPr bwMode="auto">
          <a:xfrm>
            <a:off x="1219200" y="2971800"/>
            <a:ext cx="7467599" cy="3886200"/>
          </a:xfrm>
          <a:prstGeom prst="rect">
            <a:avLst/>
          </a:prstGeom>
          <a:noFill/>
          <a:ln w="9525">
            <a:noFill/>
            <a:miter lim="800000"/>
            <a:headEnd/>
            <a:tailEnd/>
          </a:ln>
          <a:effectLst/>
        </p:spPr>
      </p:pic>
    </p:spTree>
    <p:extLst>
      <p:ext uri="{BB962C8B-B14F-4D97-AF65-F5344CB8AC3E}">
        <p14:creationId xmlns="" xmlns:p14="http://schemas.microsoft.com/office/powerpoint/2010/main" val="23595686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A1271227-37A8-BD2E-DA5F-9D1409CD539E}"/>
              </a:ext>
            </a:extLst>
          </p:cNvPr>
          <p:cNvSpPr txBox="1"/>
          <p:nvPr/>
        </p:nvSpPr>
        <p:spPr>
          <a:xfrm>
            <a:off x="872251" y="1037173"/>
            <a:ext cx="7924801" cy="539378"/>
          </a:xfrm>
          <a:prstGeom prst="rect">
            <a:avLst/>
          </a:prstGeom>
          <a:noFill/>
        </p:spPr>
        <p:txBody>
          <a:bodyPr wrap="square" rtlCol="0">
            <a:spAutoFit/>
          </a:bodyPr>
          <a:lstStyle/>
          <a:p>
            <a:pPr algn="just">
              <a:lnSpc>
                <a:spcPct val="150000"/>
              </a:lnSpc>
            </a:pPr>
            <a:r>
              <a:rPr lang="en-IN" sz="2200" b="1" dirty="0">
                <a:latin typeface="Times New Roman" panose="02020603050405020304" pitchFamily="18" charset="0"/>
                <a:cs typeface="Times New Roman" panose="02020603050405020304" pitchFamily="18" charset="0"/>
              </a:rPr>
              <a:t>Modules:</a:t>
            </a:r>
            <a:endParaRPr lang="en-IN" b="1" dirty="0">
              <a:latin typeface="Times New Roman" panose="02020603050405020304" pitchFamily="18" charset="0"/>
              <a:cs typeface="Times New Roman" panose="02020603050405020304" pitchFamily="18" charset="0"/>
            </a:endParaRPr>
          </a:p>
        </p:txBody>
      </p:sp>
      <p:grpSp>
        <p:nvGrpSpPr>
          <p:cNvPr id="5" name="object 3">
            <a:extLst>
              <a:ext uri="{FF2B5EF4-FFF2-40B4-BE49-F238E27FC236}">
                <a16:creationId xmlns="" xmlns:a16="http://schemas.microsoft.com/office/drawing/2014/main" id="{21ABBE52-8710-4E6B-00A1-6AE2E264A905}"/>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 xmlns:a16="http://schemas.microsoft.com/office/drawing/2014/main" id="{BB01548A-FFE9-E3D8-12A9-78CF2115655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 xmlns:a16="http://schemas.microsoft.com/office/drawing/2014/main" id="{C2274CD8-F01F-9319-4AED-E01AFBB7B3F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 xmlns:a16="http://schemas.microsoft.com/office/drawing/2014/main" id="{798807C2-A29E-0BF3-6CFE-592456DB3D5A}"/>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 xmlns:a16="http://schemas.microsoft.com/office/drawing/2014/main" id="{0012A6F5-DCDD-5346-54A8-BF352762053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 xmlns:a16="http://schemas.microsoft.com/office/drawing/2014/main" id="{3953B3A5-B246-55AD-515B-436ED9F0D042}"/>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DESIGN</a:t>
            </a:r>
          </a:p>
        </p:txBody>
      </p:sp>
      <p:pic>
        <p:nvPicPr>
          <p:cNvPr id="11" name="object 3">
            <a:extLst>
              <a:ext uri="{FF2B5EF4-FFF2-40B4-BE49-F238E27FC236}">
                <a16:creationId xmlns="" xmlns:a16="http://schemas.microsoft.com/office/drawing/2014/main" id="{A01798C2-99DE-A723-BAF6-CF11F4E8C1FC}"/>
              </a:ext>
            </a:extLst>
          </p:cNvPr>
          <p:cNvPicPr/>
          <p:nvPr/>
        </p:nvPicPr>
        <p:blipFill>
          <a:blip r:embed="rId6" cstate="print"/>
          <a:stretch>
            <a:fillRect/>
          </a:stretch>
        </p:blipFill>
        <p:spPr>
          <a:xfrm>
            <a:off x="290750" y="204311"/>
            <a:ext cx="1163002" cy="424338"/>
          </a:xfrm>
          <a:prstGeom prst="rect">
            <a:avLst/>
          </a:prstGeom>
        </p:spPr>
      </p:pic>
      <p:sp>
        <p:nvSpPr>
          <p:cNvPr id="12" name="TextBox 11">
            <a:extLst>
              <a:ext uri="{FF2B5EF4-FFF2-40B4-BE49-F238E27FC236}">
                <a16:creationId xmlns="" xmlns:a16="http://schemas.microsoft.com/office/drawing/2014/main" id="{2E698EF3-6CC5-CB2B-B3DF-1F2230442C23}"/>
              </a:ext>
            </a:extLst>
          </p:cNvPr>
          <p:cNvSpPr txBox="1"/>
          <p:nvPr/>
        </p:nvSpPr>
        <p:spPr>
          <a:xfrm>
            <a:off x="990600" y="1600200"/>
            <a:ext cx="8610599" cy="5940088"/>
          </a:xfrm>
          <a:prstGeom prst="rect">
            <a:avLst/>
          </a:prstGeom>
          <a:noFill/>
        </p:spPr>
        <p:txBody>
          <a:bodyPr wrap="square">
            <a:spAutoFit/>
          </a:bodyPr>
          <a:lstStyle/>
          <a:p>
            <a:pPr algn="l"/>
            <a:r>
              <a:rPr lang="en-US" sz="2000" b="1" dirty="0">
                <a:latin typeface="Times New Roman" panose="02020603050405020304" pitchFamily="18" charset="0"/>
                <a:cs typeface="Times New Roman" panose="02020603050405020304" pitchFamily="18" charset="0"/>
              </a:rPr>
              <a:t>Login Module</a:t>
            </a:r>
          </a:p>
          <a:p>
            <a:pPr algn="l"/>
            <a:r>
              <a:rPr lang="en-US" sz="2000" dirty="0">
                <a:latin typeface="Times New Roman" panose="02020603050405020304" pitchFamily="18" charset="0"/>
                <a:cs typeface="Times New Roman" panose="02020603050405020304" pitchFamily="18" charset="0"/>
              </a:rPr>
              <a:t>	</a:t>
            </a:r>
            <a:r>
              <a:rPr lang="en-US" sz="2000" dirty="0" smtClean="0">
                <a:latin typeface="Times New Roman" pitchFamily="18" charset="0"/>
                <a:cs typeface="Times New Roman" pitchFamily="18" charset="0"/>
              </a:rPr>
              <a:t>Validates admin/student credentials to ensure authorized access                       </a:t>
            </a:r>
            <a:r>
              <a:rPr lang="en-US" sz="2000" dirty="0" smtClean="0">
                <a:latin typeface="Times New Roman" pitchFamily="18" charset="0"/>
                <a:cs typeface="Times New Roman" pitchFamily="18" charset="0"/>
              </a:rPr>
              <a:t> to </a:t>
            </a:r>
            <a:r>
              <a:rPr lang="en-US" sz="2000" dirty="0" smtClean="0">
                <a:latin typeface="Times New Roman" pitchFamily="18" charset="0"/>
                <a:cs typeface="Times New Roman" pitchFamily="18" charset="0"/>
              </a:rPr>
              <a:t>the system.</a:t>
            </a:r>
            <a:endParaRPr lang="en-US" sz="2000" dirty="0">
              <a:latin typeface="Times New Roman" pitchFamily="18" charset="0"/>
              <a:cs typeface="Times New Roman" pitchFamily="18" charset="0"/>
            </a:endParaRPr>
          </a:p>
          <a:p>
            <a:pPr algn="l"/>
            <a:r>
              <a:rPr lang="en-US" sz="2000" b="1" dirty="0" smtClean="0">
                <a:latin typeface="Times New Roman" panose="02020603050405020304" pitchFamily="18" charset="0"/>
                <a:cs typeface="Times New Roman" panose="02020603050405020304" pitchFamily="18" charset="0"/>
              </a:rPr>
              <a:t>Student</a:t>
            </a:r>
            <a:r>
              <a:rPr lang="en-US" sz="2000" b="1" dirty="0" smtClean="0">
                <a:latin typeface="Times New Roman" panose="02020603050405020304" pitchFamily="18" charset="0"/>
                <a:cs typeface="Times New Roman" panose="02020603050405020304" pitchFamily="18" charset="0"/>
              </a:rPr>
              <a:t> </a:t>
            </a:r>
            <a:r>
              <a:rPr lang="en-US" sz="2000" b="1" dirty="0" smtClean="0">
                <a:latin typeface="Times New Roman" panose="02020603050405020304" pitchFamily="18" charset="0"/>
                <a:cs typeface="Times New Roman" panose="02020603050405020304" pitchFamily="18" charset="0"/>
              </a:rPr>
              <a:t>Registration </a:t>
            </a:r>
            <a:r>
              <a:rPr lang="en-US" sz="2000" b="1" dirty="0">
                <a:latin typeface="Times New Roman" panose="02020603050405020304" pitchFamily="18" charset="0"/>
                <a:cs typeface="Times New Roman" panose="02020603050405020304" pitchFamily="18" charset="0"/>
              </a:rPr>
              <a:t>Module</a:t>
            </a:r>
          </a:p>
          <a:p>
            <a:pPr algn="l"/>
            <a:r>
              <a:rPr lang="en-US" sz="2000" dirty="0">
                <a:latin typeface="Times New Roman" panose="02020603050405020304" pitchFamily="18" charset="0"/>
                <a:cs typeface="Times New Roman" panose="02020603050405020304" pitchFamily="18" charset="0"/>
              </a:rPr>
              <a:t>	Captures and </a:t>
            </a:r>
            <a:r>
              <a:rPr lang="en-US" sz="2000" dirty="0" smtClean="0">
                <a:latin typeface="Times New Roman" panose="02020603050405020304" pitchFamily="18" charset="0"/>
                <a:cs typeface="Times New Roman" panose="02020603050405020304" pitchFamily="18" charset="0"/>
              </a:rPr>
              <a:t>stores new employee details </a:t>
            </a:r>
            <a:r>
              <a:rPr lang="en-US" sz="2000" dirty="0">
                <a:latin typeface="Times New Roman" panose="02020603050405020304" pitchFamily="18" charset="0"/>
                <a:cs typeface="Times New Roman" panose="02020603050405020304" pitchFamily="18" charset="0"/>
              </a:rPr>
              <a:t>such as ID, name, department,  </a:t>
            </a:r>
            <a:r>
              <a:rPr lang="en-US" sz="2000" dirty="0" smtClean="0">
                <a:latin typeface="Times New Roman" panose="02020603050405020304" pitchFamily="18" charset="0"/>
                <a:cs typeface="Times New Roman" panose="02020603050405020304" pitchFamily="18" charset="0"/>
              </a:rPr>
              <a:t>  and designation.</a:t>
            </a:r>
            <a:endParaRPr lang="en-US" sz="2000" dirty="0">
              <a:latin typeface="Times New Roman" panose="02020603050405020304" pitchFamily="18" charset="0"/>
              <a:cs typeface="Times New Roman" panose="02020603050405020304" pitchFamily="18" charset="0"/>
            </a:endParaRPr>
          </a:p>
          <a:p>
            <a:pPr algn="l"/>
            <a:r>
              <a:rPr lang="en-US" sz="2000" b="1" dirty="0" smtClean="0">
                <a:latin typeface="Times New Roman" panose="02020603050405020304" pitchFamily="18" charset="0"/>
                <a:cs typeface="Times New Roman" panose="02020603050405020304" pitchFamily="18" charset="0"/>
              </a:rPr>
              <a:t>Course</a:t>
            </a:r>
            <a:r>
              <a:rPr lang="en-US" sz="2000" b="1" dirty="0" smtClean="0">
                <a:latin typeface="Times New Roman" panose="02020603050405020304" pitchFamily="18" charset="0"/>
                <a:cs typeface="Times New Roman" panose="02020603050405020304" pitchFamily="18" charset="0"/>
              </a:rPr>
              <a:t> </a:t>
            </a:r>
            <a:r>
              <a:rPr lang="en-US" sz="2000" b="1" dirty="0" smtClean="0">
                <a:latin typeface="Times New Roman" panose="02020603050405020304" pitchFamily="18" charset="0"/>
                <a:cs typeface="Times New Roman" panose="02020603050405020304" pitchFamily="18" charset="0"/>
              </a:rPr>
              <a:t>Management </a:t>
            </a:r>
            <a:r>
              <a:rPr lang="en-US" sz="2000" b="1" dirty="0">
                <a:latin typeface="Times New Roman" panose="02020603050405020304" pitchFamily="18" charset="0"/>
                <a:cs typeface="Times New Roman" panose="02020603050405020304" pitchFamily="18" charset="0"/>
              </a:rPr>
              <a:t>Module</a:t>
            </a:r>
          </a:p>
          <a:p>
            <a:pPr algn="l"/>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Allows admin to add, update, and manage course details such as course name, duration, and fee.</a:t>
            </a:r>
            <a:endParaRPr lang="en-US" sz="2000" dirty="0">
              <a:latin typeface="Times New Roman" pitchFamily="18" charset="0"/>
              <a:cs typeface="Times New Roman" pitchFamily="18" charset="0"/>
            </a:endParaRPr>
          </a:p>
          <a:p>
            <a:pPr algn="l"/>
            <a:r>
              <a:rPr lang="en-US" sz="2000" b="1" dirty="0" smtClean="0">
                <a:latin typeface="Times New Roman" panose="02020603050405020304" pitchFamily="18" charset="0"/>
                <a:cs typeface="Times New Roman" panose="02020603050405020304" pitchFamily="18" charset="0"/>
              </a:rPr>
              <a:t>Course Registration</a:t>
            </a:r>
            <a:r>
              <a:rPr lang="en-US" sz="2000" b="1" dirty="0" smtClean="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Module</a:t>
            </a:r>
          </a:p>
          <a:p>
            <a:pPr algn="l"/>
            <a:r>
              <a:rPr lang="en-US" sz="2000" dirty="0">
                <a:latin typeface="Times New Roman" panose="02020603050405020304" pitchFamily="18" charset="0"/>
                <a:cs typeface="Times New Roman" panose="02020603050405020304" pitchFamily="18" charset="0"/>
              </a:rPr>
              <a:t>	</a:t>
            </a:r>
            <a:r>
              <a:rPr lang="en-US" sz="2000" dirty="0" smtClean="0">
                <a:latin typeface="Times New Roman" pitchFamily="18" charset="0"/>
                <a:cs typeface="Times New Roman" pitchFamily="18" charset="0"/>
              </a:rPr>
              <a:t>Enables students to register for courses and manages student-course relationships.</a:t>
            </a:r>
            <a:endParaRPr lang="en-US" sz="2000" dirty="0">
              <a:latin typeface="Times New Roman" pitchFamily="18" charset="0"/>
              <a:cs typeface="Times New Roman" pitchFamily="18" charset="0"/>
            </a:endParaRPr>
          </a:p>
          <a:p>
            <a:pPr algn="l"/>
            <a:r>
              <a:rPr lang="en-US" sz="2000" b="1" dirty="0" smtClean="0">
                <a:latin typeface="Times New Roman" panose="02020603050405020304" pitchFamily="18" charset="0"/>
                <a:cs typeface="Times New Roman" panose="02020603050405020304" pitchFamily="18" charset="0"/>
              </a:rPr>
              <a:t>Search</a:t>
            </a:r>
            <a:r>
              <a:rPr lang="en-US" sz="2000" b="1" dirty="0" smtClean="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Module</a:t>
            </a:r>
          </a:p>
          <a:p>
            <a:pPr algn="l"/>
            <a:r>
              <a:rPr lang="en-US" sz="2000" dirty="0">
                <a:latin typeface="Times New Roman" panose="02020603050405020304" pitchFamily="18" charset="0"/>
                <a:cs typeface="Times New Roman" panose="02020603050405020304" pitchFamily="18" charset="0"/>
              </a:rPr>
              <a:t>	</a:t>
            </a:r>
            <a:r>
              <a:rPr lang="en-US" sz="2000" dirty="0" smtClean="0">
                <a:latin typeface="Times New Roman" pitchFamily="18" charset="0"/>
                <a:cs typeface="Times New Roman" pitchFamily="18" charset="0"/>
              </a:rPr>
              <a:t>Allows quick retrieval of student or course information using ID or name.</a:t>
            </a:r>
            <a:endParaRPr lang="en-US" sz="2000" dirty="0">
              <a:latin typeface="Times New Roman" pitchFamily="18" charset="0"/>
              <a:cs typeface="Times New Roman" pitchFamily="18" charset="0"/>
            </a:endParaRPr>
          </a:p>
          <a:p>
            <a:pPr algn="l"/>
            <a:r>
              <a:rPr lang="en-US" sz="2000" b="1" dirty="0" smtClean="0">
                <a:latin typeface="Times New Roman" panose="02020603050405020304" pitchFamily="18" charset="0"/>
                <a:cs typeface="Times New Roman" panose="02020603050405020304" pitchFamily="18" charset="0"/>
              </a:rPr>
              <a:t>Database</a:t>
            </a:r>
            <a:r>
              <a:rPr lang="en-US" sz="2000" b="1" dirty="0" smtClean="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Module</a:t>
            </a:r>
          </a:p>
          <a:p>
            <a:pPr algn="l"/>
            <a:r>
              <a:rPr lang="en-US" sz="2000" dirty="0">
                <a:latin typeface="Times New Roman" panose="02020603050405020304" pitchFamily="18" charset="0"/>
                <a:cs typeface="Times New Roman" panose="02020603050405020304" pitchFamily="18" charset="0"/>
              </a:rPr>
              <a:t>	</a:t>
            </a:r>
            <a:r>
              <a:rPr lang="en-US" sz="2000" dirty="0" smtClean="0">
                <a:latin typeface="Times New Roman" pitchFamily="18" charset="0"/>
                <a:cs typeface="Times New Roman" pitchFamily="18" charset="0"/>
              </a:rPr>
              <a:t>Handles all database interactions using JDBC for secure data storage and retrieval.</a:t>
            </a:r>
            <a:endParaRPr lang="en-US" sz="2000" dirty="0" smtClean="0">
              <a:latin typeface="Times New Roman" panose="02020603050405020304" pitchFamily="18" charset="0"/>
              <a:cs typeface="Times New Roman" panose="02020603050405020304" pitchFamily="18" charset="0"/>
            </a:endParaRPr>
          </a:p>
          <a:p>
            <a:pPr algn="l"/>
            <a:r>
              <a:rPr lang="en-US" sz="2000" b="1" dirty="0" smtClean="0">
                <a:latin typeface="Times New Roman" panose="02020603050405020304" pitchFamily="18" charset="0"/>
                <a:cs typeface="Times New Roman" panose="02020603050405020304" pitchFamily="18" charset="0"/>
              </a:rPr>
              <a:t>Payment Module</a:t>
            </a:r>
          </a:p>
          <a:p>
            <a:pPr algn="l"/>
            <a:r>
              <a:rPr lang="en-US" sz="2000" b="1" dirty="0">
                <a:latin typeface="Times New Roman" pitchFamily="18" charset="0"/>
                <a:cs typeface="Times New Roman" pitchFamily="18" charset="0"/>
              </a:rPr>
              <a:t> </a:t>
            </a:r>
            <a:r>
              <a:rPr lang="en-US" sz="2000" b="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Manages course payments and maintains payment records and history.</a:t>
            </a:r>
            <a:endParaRPr lang="en-IN" sz="2000" b="1" dirty="0">
              <a:latin typeface="Times New Roman" pitchFamily="18" charset="0"/>
              <a:cs typeface="Times New Roman" pitchFamily="18" charset="0"/>
            </a:endParaRPr>
          </a:p>
        </p:txBody>
      </p:sp>
    </p:spTree>
    <p:extLst>
      <p:ext uri="{BB962C8B-B14F-4D97-AF65-F5344CB8AC3E}">
        <p14:creationId xmlns="" xmlns:p14="http://schemas.microsoft.com/office/powerpoint/2010/main" val="314495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DA17A6E-C969-4FC6-1638-B02DC9858D8E}"/>
            </a:ext>
          </a:extLst>
        </p:cNvPr>
        <p:cNvGrpSpPr/>
        <p:nvPr/>
      </p:nvGrpSpPr>
      <p:grpSpPr>
        <a:xfrm>
          <a:off x="0" y="0"/>
          <a:ext cx="0" cy="0"/>
          <a:chOff x="0" y="0"/>
          <a:chExt cx="0" cy="0"/>
        </a:xfrm>
      </p:grpSpPr>
      <p:grpSp>
        <p:nvGrpSpPr>
          <p:cNvPr id="5" name="object 3">
            <a:extLst>
              <a:ext uri="{FF2B5EF4-FFF2-40B4-BE49-F238E27FC236}">
                <a16:creationId xmlns="" xmlns:a16="http://schemas.microsoft.com/office/drawing/2014/main" id="{18CD80CE-9A20-C3F9-675C-6A5559C46A59}"/>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 xmlns:a16="http://schemas.microsoft.com/office/drawing/2014/main" id="{4EE6F78B-EB8B-E507-510F-5E3E95B98B6F}"/>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 xmlns:a16="http://schemas.microsoft.com/office/drawing/2014/main" id="{60BFA710-1140-7847-52D3-8D6778096E5F}"/>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 xmlns:a16="http://schemas.microsoft.com/office/drawing/2014/main" id="{49D1D7BE-6FAB-E379-94E6-040D6A76585E}"/>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 xmlns:a16="http://schemas.microsoft.com/office/drawing/2014/main" id="{2191A9B2-D3E3-35FE-4108-715E3C7C4CA7}"/>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 xmlns:a16="http://schemas.microsoft.com/office/drawing/2014/main" id="{00A15CDC-61F7-A7B4-E469-6B0C1199925B}"/>
              </a:ext>
            </a:extLst>
          </p:cNvPr>
          <p:cNvSpPr txBox="1">
            <a:spLocks noGrp="1"/>
          </p:cNvSpPr>
          <p:nvPr>
            <p:ph type="title"/>
          </p:nvPr>
        </p:nvSpPr>
        <p:spPr>
          <a:xfrm>
            <a:off x="3945254" y="432593"/>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 xmlns:a16="http://schemas.microsoft.com/office/drawing/2014/main" id="{C4C71D08-C2F1-0E7E-1D5D-669DEF4FBD1A}"/>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 xmlns:a16="http://schemas.microsoft.com/office/drawing/2014/main" id="{06B09BF8-939E-6C76-4342-E04259FF568B}"/>
              </a:ext>
            </a:extLst>
          </p:cNvPr>
          <p:cNvSpPr txBox="1"/>
          <p:nvPr/>
        </p:nvSpPr>
        <p:spPr>
          <a:xfrm>
            <a:off x="990600" y="1449777"/>
            <a:ext cx="8763000" cy="1067472"/>
          </a:xfrm>
          <a:prstGeom prst="rect">
            <a:avLst/>
          </a:prstGeom>
          <a:noFill/>
        </p:spPr>
        <p:txBody>
          <a:bodyPr wrap="square">
            <a:spAutoFit/>
          </a:bodyPr>
          <a:lstStyle/>
          <a:p>
            <a:pPr>
              <a:lnSpc>
                <a:spcPct val="115000"/>
              </a:lnSpc>
              <a:spcAft>
                <a:spcPts val="800"/>
              </a:spcAft>
              <a:buNone/>
            </a:pPr>
            <a:r>
              <a:rPr lang="en-IN" sz="1800" b="1" u="sng" kern="100" dirty="0">
                <a:effectLst/>
                <a:latin typeface="Times New Roman" panose="02020603050405020304" pitchFamily="18" charset="0"/>
                <a:ea typeface="Calibri" panose="020F0502020204030204" pitchFamily="34" charset="0"/>
                <a:cs typeface="Gautami" panose="020B0502040204020203" pitchFamily="34" charset="0"/>
              </a:rPr>
              <a:t>Login window: </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r>
              <a:rPr lang="en-US" dirty="0" smtClean="0">
                <a:latin typeface="Times New Roman" pitchFamily="18" charset="0"/>
                <a:cs typeface="Times New Roman" pitchFamily="18" charset="0"/>
              </a:rPr>
              <a:t>This window allows authorized users (admin and students) to enter their email and password to access the Course Registration System.</a:t>
            </a:r>
            <a:endParaRPr lang="en-US" dirty="0">
              <a:latin typeface="Times New Roman" pitchFamily="18" charset="0"/>
              <a:cs typeface="Times New Roman" pitchFamily="18" charset="0"/>
            </a:endParaRPr>
          </a:p>
        </p:txBody>
      </p:sp>
      <p:pic>
        <p:nvPicPr>
          <p:cNvPr id="5122" name="Picture 2"/>
          <p:cNvPicPr>
            <a:picLocks noChangeAspect="1" noChangeArrowheads="1"/>
          </p:cNvPicPr>
          <p:nvPr/>
        </p:nvPicPr>
        <p:blipFill>
          <a:blip r:embed="rId7"/>
          <a:srcRect/>
          <a:stretch>
            <a:fillRect/>
          </a:stretch>
        </p:blipFill>
        <p:spPr bwMode="auto">
          <a:xfrm>
            <a:off x="1447800" y="2743200"/>
            <a:ext cx="7010400" cy="4572000"/>
          </a:xfrm>
          <a:prstGeom prst="rect">
            <a:avLst/>
          </a:prstGeom>
          <a:noFill/>
          <a:ln w="9525">
            <a:noFill/>
            <a:miter lim="800000"/>
            <a:headEnd/>
            <a:tailEnd/>
          </a:ln>
          <a:effectLst/>
        </p:spPr>
      </p:pic>
    </p:spTree>
    <p:extLst>
      <p:ext uri="{BB962C8B-B14F-4D97-AF65-F5344CB8AC3E}">
        <p14:creationId xmlns="" xmlns:p14="http://schemas.microsoft.com/office/powerpoint/2010/main" val="25142697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CA882AF-3F85-D02B-B167-92BB06FA78F0}"/>
            </a:ext>
          </a:extLst>
        </p:cNvPr>
        <p:cNvGrpSpPr/>
        <p:nvPr/>
      </p:nvGrpSpPr>
      <p:grpSpPr>
        <a:xfrm>
          <a:off x="0" y="0"/>
          <a:ext cx="0" cy="0"/>
          <a:chOff x="0" y="0"/>
          <a:chExt cx="0" cy="0"/>
        </a:xfrm>
      </p:grpSpPr>
      <p:grpSp>
        <p:nvGrpSpPr>
          <p:cNvPr id="5" name="object 3">
            <a:extLst>
              <a:ext uri="{FF2B5EF4-FFF2-40B4-BE49-F238E27FC236}">
                <a16:creationId xmlns="" xmlns:a16="http://schemas.microsoft.com/office/drawing/2014/main" id="{51F8D081-5351-6A34-F61D-4BFC9E697C5D}"/>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 xmlns:a16="http://schemas.microsoft.com/office/drawing/2014/main" id="{5B86A6D7-44C7-3F2E-0E87-B0BE38F5E60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 xmlns:a16="http://schemas.microsoft.com/office/drawing/2014/main" id="{00CAD93E-47B3-5F1C-50C3-CCFC6FA0C347}"/>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 xmlns:a16="http://schemas.microsoft.com/office/drawing/2014/main" id="{D61A56A4-0FD7-4B40-8D6B-4C66C95E7C91}"/>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 xmlns:a16="http://schemas.microsoft.com/office/drawing/2014/main" id="{CA7F524B-FE9E-1FF8-1621-5EDB9B2A9EB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 xmlns:a16="http://schemas.microsoft.com/office/drawing/2014/main" id="{CFAF95C4-DE06-BB07-8BE1-1C14ACA3AC98}"/>
              </a:ext>
            </a:extLst>
          </p:cNvPr>
          <p:cNvSpPr txBox="1">
            <a:spLocks noGrp="1"/>
          </p:cNvSpPr>
          <p:nvPr>
            <p:ph type="title"/>
          </p:nvPr>
        </p:nvSpPr>
        <p:spPr>
          <a:xfrm>
            <a:off x="3724479" y="411877"/>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 xmlns:a16="http://schemas.microsoft.com/office/drawing/2014/main" id="{C43AD385-1BD8-C19B-6526-BBB862770E82}"/>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 xmlns:a16="http://schemas.microsoft.com/office/drawing/2014/main" id="{B8DE39BD-B38D-F038-C3C2-37F3F226C77D}"/>
              </a:ext>
            </a:extLst>
          </p:cNvPr>
          <p:cNvSpPr txBox="1"/>
          <p:nvPr/>
        </p:nvSpPr>
        <p:spPr>
          <a:xfrm>
            <a:off x="990600" y="1449777"/>
            <a:ext cx="8763000" cy="1200329"/>
          </a:xfrm>
          <a:prstGeom prst="rect">
            <a:avLst/>
          </a:prstGeom>
          <a:noFill/>
        </p:spPr>
        <p:txBody>
          <a:bodyPr wrap="square">
            <a:spAutoFit/>
          </a:bodyPr>
          <a:lstStyle/>
          <a:p>
            <a:r>
              <a:rPr lang="en-US" b="1" u="sng" dirty="0" smtClean="0"/>
              <a:t>Admin Dashboard:</a:t>
            </a:r>
            <a:r>
              <a:rPr lang="en-IN" sz="1800" b="1" dirty="0"/>
              <a:t> </a:t>
            </a:r>
          </a:p>
          <a:p>
            <a:r>
              <a:rPr lang="en-US" dirty="0" smtClean="0">
                <a:latin typeface="Times New Roman" pitchFamily="18" charset="0"/>
                <a:cs typeface="Times New Roman" pitchFamily="18" charset="0"/>
              </a:rPr>
              <a:t>The Admin Dashboard provides a centralized interface to manage students, courses, and registrations efficiently.</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It displays key statistics and offers quick access to major system functionalities.</a:t>
            </a:r>
            <a:endParaRPr lang="en-IN" sz="1800" dirty="0">
              <a:latin typeface="Times New Roman" pitchFamily="18" charset="0"/>
              <a:cs typeface="Times New Roman" pitchFamily="18" charset="0"/>
            </a:endParaRPr>
          </a:p>
        </p:txBody>
      </p:sp>
      <p:pic>
        <p:nvPicPr>
          <p:cNvPr id="6146" name="Picture 2"/>
          <p:cNvPicPr>
            <a:picLocks noChangeAspect="1" noChangeArrowheads="1"/>
          </p:cNvPicPr>
          <p:nvPr/>
        </p:nvPicPr>
        <p:blipFill>
          <a:blip r:embed="rId7"/>
          <a:srcRect/>
          <a:stretch>
            <a:fillRect/>
          </a:stretch>
        </p:blipFill>
        <p:spPr bwMode="auto">
          <a:xfrm>
            <a:off x="1219200" y="2895600"/>
            <a:ext cx="7467600" cy="4419600"/>
          </a:xfrm>
          <a:prstGeom prst="rect">
            <a:avLst/>
          </a:prstGeom>
          <a:noFill/>
          <a:ln w="9525">
            <a:noFill/>
            <a:miter lim="800000"/>
            <a:headEnd/>
            <a:tailEnd/>
          </a:ln>
          <a:effectLst/>
        </p:spPr>
      </p:pic>
    </p:spTree>
    <p:extLst>
      <p:ext uri="{BB962C8B-B14F-4D97-AF65-F5344CB8AC3E}">
        <p14:creationId xmlns="" xmlns:p14="http://schemas.microsoft.com/office/powerpoint/2010/main" val="2972483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25A61D0-099F-C774-0062-C8956AD10B14}"/>
            </a:ext>
          </a:extLst>
        </p:cNvPr>
        <p:cNvGrpSpPr/>
        <p:nvPr/>
      </p:nvGrpSpPr>
      <p:grpSpPr>
        <a:xfrm>
          <a:off x="0" y="0"/>
          <a:ext cx="0" cy="0"/>
          <a:chOff x="0" y="0"/>
          <a:chExt cx="0" cy="0"/>
        </a:xfrm>
      </p:grpSpPr>
      <p:grpSp>
        <p:nvGrpSpPr>
          <p:cNvPr id="5" name="object 3">
            <a:extLst>
              <a:ext uri="{FF2B5EF4-FFF2-40B4-BE49-F238E27FC236}">
                <a16:creationId xmlns="" xmlns:a16="http://schemas.microsoft.com/office/drawing/2014/main" id="{C44C1A33-7C14-0DEB-3965-284AF49FCF96}"/>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 xmlns:a16="http://schemas.microsoft.com/office/drawing/2014/main" id="{B5AD8913-F996-8CEC-7934-417EC50677A9}"/>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 xmlns:a16="http://schemas.microsoft.com/office/drawing/2014/main" id="{C4C01121-5342-6ED4-E848-5F0A26A4F298}"/>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 xmlns:a16="http://schemas.microsoft.com/office/drawing/2014/main" id="{E76C04D3-36A1-A3D8-4753-54D754D06823}"/>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 xmlns:a16="http://schemas.microsoft.com/office/drawing/2014/main" id="{DEDA527A-944E-DD9F-9390-C3FE8A62152A}"/>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 xmlns:a16="http://schemas.microsoft.com/office/drawing/2014/main" id="{E1E0144C-CD6A-71E3-CB87-9E558AD5FF4A}"/>
              </a:ext>
            </a:extLst>
          </p:cNvPr>
          <p:cNvSpPr txBox="1">
            <a:spLocks noGrp="1"/>
          </p:cNvSpPr>
          <p:nvPr>
            <p:ph type="title"/>
          </p:nvPr>
        </p:nvSpPr>
        <p:spPr>
          <a:xfrm>
            <a:off x="3724479" y="450118"/>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 xmlns:a16="http://schemas.microsoft.com/office/drawing/2014/main" id="{63F76BCB-14FA-BBEA-1CDB-64C0E4637DB7}"/>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 xmlns:a16="http://schemas.microsoft.com/office/drawing/2014/main" id="{7E08911D-DB8D-864A-A56A-021103D1465A}"/>
              </a:ext>
            </a:extLst>
          </p:cNvPr>
          <p:cNvSpPr txBox="1"/>
          <p:nvPr/>
        </p:nvSpPr>
        <p:spPr>
          <a:xfrm>
            <a:off x="990600" y="1449777"/>
            <a:ext cx="8763000" cy="923330"/>
          </a:xfrm>
          <a:prstGeom prst="rect">
            <a:avLst/>
          </a:prstGeom>
          <a:noFill/>
        </p:spPr>
        <p:txBody>
          <a:bodyPr wrap="square">
            <a:spAutoFit/>
          </a:bodyPr>
          <a:lstStyle/>
          <a:p>
            <a:r>
              <a:rPr lang="en-IN" sz="1800" b="1" u="sng" dirty="0"/>
              <a:t>Add </a:t>
            </a:r>
            <a:r>
              <a:rPr lang="en-IN" b="1" u="sng" dirty="0" smtClean="0"/>
              <a:t>Student</a:t>
            </a:r>
            <a:r>
              <a:rPr lang="en-IN" sz="1800" b="1" u="sng" dirty="0" smtClean="0"/>
              <a:t> </a:t>
            </a:r>
            <a:r>
              <a:rPr lang="en-IN" sz="1800" b="1" u="sng" dirty="0"/>
              <a:t>Window:</a:t>
            </a:r>
            <a:endParaRPr lang="en-IN" sz="1800" dirty="0"/>
          </a:p>
          <a:p>
            <a:r>
              <a:rPr lang="en-IN" sz="1800" b="1" dirty="0"/>
              <a:t> </a:t>
            </a:r>
            <a:endParaRPr lang="en-IN" sz="1800" dirty="0"/>
          </a:p>
          <a:p>
            <a:pPr algn="just"/>
            <a:r>
              <a:rPr lang="en-IN" sz="1800" dirty="0" smtClean="0">
                <a:latin typeface="Times New Roman" pitchFamily="18" charset="0"/>
                <a:cs typeface="Times New Roman" pitchFamily="18" charset="0"/>
              </a:rPr>
              <a:t>This window allows the user to enter and save new student details into the database</a:t>
            </a:r>
            <a:r>
              <a:rPr lang="en-IN" sz="1800" dirty="0" smtClean="0"/>
              <a:t>.</a:t>
            </a:r>
            <a:endParaRPr lang="en-IN" sz="1800" dirty="0"/>
          </a:p>
        </p:txBody>
      </p:sp>
      <p:pic>
        <p:nvPicPr>
          <p:cNvPr id="7170" name="Picture 2"/>
          <p:cNvPicPr>
            <a:picLocks noChangeAspect="1" noChangeArrowheads="1"/>
          </p:cNvPicPr>
          <p:nvPr/>
        </p:nvPicPr>
        <p:blipFill>
          <a:blip r:embed="rId7"/>
          <a:srcRect/>
          <a:stretch>
            <a:fillRect/>
          </a:stretch>
        </p:blipFill>
        <p:spPr bwMode="auto">
          <a:xfrm>
            <a:off x="1295400" y="2819400"/>
            <a:ext cx="7162800" cy="4190999"/>
          </a:xfrm>
          <a:prstGeom prst="rect">
            <a:avLst/>
          </a:prstGeom>
          <a:noFill/>
          <a:ln w="9525">
            <a:noFill/>
            <a:miter lim="800000"/>
            <a:headEnd/>
            <a:tailEnd/>
          </a:ln>
          <a:effectLst/>
        </p:spPr>
      </p:pic>
    </p:spTree>
    <p:extLst>
      <p:ext uri="{BB962C8B-B14F-4D97-AF65-F5344CB8AC3E}">
        <p14:creationId xmlns="" xmlns:p14="http://schemas.microsoft.com/office/powerpoint/2010/main" val="3599639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25A61D0-099F-C774-0062-C8956AD10B14}"/>
            </a:ext>
          </a:extLst>
        </p:cNvPr>
        <p:cNvGrpSpPr/>
        <p:nvPr/>
      </p:nvGrpSpPr>
      <p:grpSpPr>
        <a:xfrm>
          <a:off x="0" y="0"/>
          <a:ext cx="0" cy="0"/>
          <a:chOff x="0" y="0"/>
          <a:chExt cx="0" cy="0"/>
        </a:xfrm>
      </p:grpSpPr>
      <p:grpSp>
        <p:nvGrpSpPr>
          <p:cNvPr id="2" name="object 3">
            <a:extLst>
              <a:ext uri="{FF2B5EF4-FFF2-40B4-BE49-F238E27FC236}">
                <a16:creationId xmlns="" xmlns:a16="http://schemas.microsoft.com/office/drawing/2014/main" id="{C44C1A33-7C14-0DEB-3965-284AF49FCF96}"/>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 xmlns:a16="http://schemas.microsoft.com/office/drawing/2014/main" id="{B5AD8913-F996-8CEC-7934-417EC50677A9}"/>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 xmlns:a16="http://schemas.microsoft.com/office/drawing/2014/main" id="{C4C01121-5342-6ED4-E848-5F0A26A4F298}"/>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 xmlns:a16="http://schemas.microsoft.com/office/drawing/2014/main" id="{E76C04D3-36A1-A3D8-4753-54D754D06823}"/>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 xmlns:a16="http://schemas.microsoft.com/office/drawing/2014/main" id="{DEDA527A-944E-DD9F-9390-C3FE8A62152A}"/>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 xmlns:a16="http://schemas.microsoft.com/office/drawing/2014/main" id="{E1E0144C-CD6A-71E3-CB87-9E558AD5FF4A}"/>
              </a:ext>
            </a:extLst>
          </p:cNvPr>
          <p:cNvSpPr txBox="1">
            <a:spLocks noGrp="1"/>
          </p:cNvSpPr>
          <p:nvPr>
            <p:ph type="title"/>
          </p:nvPr>
        </p:nvSpPr>
        <p:spPr>
          <a:xfrm>
            <a:off x="3724479" y="450118"/>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 xmlns:a16="http://schemas.microsoft.com/office/drawing/2014/main" id="{63F76BCB-14FA-BBEA-1CDB-64C0E4637DB7}"/>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 xmlns:a16="http://schemas.microsoft.com/office/drawing/2014/main" id="{7E08911D-DB8D-864A-A56A-021103D1465A}"/>
              </a:ext>
            </a:extLst>
          </p:cNvPr>
          <p:cNvSpPr txBox="1"/>
          <p:nvPr/>
        </p:nvSpPr>
        <p:spPr>
          <a:xfrm>
            <a:off x="990600" y="1449777"/>
            <a:ext cx="8763000" cy="1200329"/>
          </a:xfrm>
          <a:prstGeom prst="rect">
            <a:avLst/>
          </a:prstGeom>
          <a:noFill/>
        </p:spPr>
        <p:txBody>
          <a:bodyPr wrap="square">
            <a:spAutoFit/>
          </a:bodyPr>
          <a:lstStyle/>
          <a:p>
            <a:r>
              <a:rPr lang="en-IN" b="1" u="sng" dirty="0" smtClean="0"/>
              <a:t>View</a:t>
            </a:r>
            <a:r>
              <a:rPr lang="en-IN" sz="1800" b="1" u="sng" dirty="0" smtClean="0"/>
              <a:t> </a:t>
            </a:r>
            <a:r>
              <a:rPr lang="en-IN" b="1" u="sng" dirty="0" smtClean="0"/>
              <a:t>Student</a:t>
            </a:r>
            <a:r>
              <a:rPr lang="en-IN" sz="1800" b="1" u="sng" dirty="0" smtClean="0"/>
              <a:t> </a:t>
            </a:r>
            <a:r>
              <a:rPr lang="en-IN" sz="1800" b="1" u="sng" dirty="0"/>
              <a:t>Window:</a:t>
            </a:r>
            <a:endParaRPr lang="en-IN" sz="1800" dirty="0"/>
          </a:p>
          <a:p>
            <a:r>
              <a:rPr lang="en-IN" sz="1800" b="1" dirty="0"/>
              <a:t> </a:t>
            </a:r>
            <a:endParaRPr lang="en-IN" sz="1800" dirty="0"/>
          </a:p>
          <a:p>
            <a:pPr algn="just"/>
            <a:r>
              <a:rPr lang="en-US" dirty="0" smtClean="0">
                <a:latin typeface="Times New Roman" pitchFamily="18" charset="0"/>
                <a:cs typeface="Times New Roman" pitchFamily="18" charset="0"/>
              </a:rPr>
              <a:t>This window displays all student details and allows searching, updating, and deleting student records.</a:t>
            </a:r>
            <a:endParaRPr lang="en-IN" sz="1800" dirty="0">
              <a:latin typeface="Times New Roman" pitchFamily="18" charset="0"/>
              <a:cs typeface="Times New Roman" pitchFamily="18" charset="0"/>
            </a:endParaRPr>
          </a:p>
        </p:txBody>
      </p:sp>
      <p:pic>
        <p:nvPicPr>
          <p:cNvPr id="16386" name="Picture 2"/>
          <p:cNvPicPr>
            <a:picLocks noChangeAspect="1" noChangeArrowheads="1"/>
          </p:cNvPicPr>
          <p:nvPr/>
        </p:nvPicPr>
        <p:blipFill>
          <a:blip r:embed="rId7"/>
          <a:srcRect/>
          <a:stretch>
            <a:fillRect/>
          </a:stretch>
        </p:blipFill>
        <p:spPr bwMode="auto">
          <a:xfrm>
            <a:off x="838200" y="2971800"/>
            <a:ext cx="8716963" cy="3898900"/>
          </a:xfrm>
          <a:prstGeom prst="rect">
            <a:avLst/>
          </a:prstGeom>
          <a:noFill/>
          <a:ln w="9525">
            <a:noFill/>
            <a:miter lim="800000"/>
            <a:headEnd/>
            <a:tailEnd/>
          </a:ln>
          <a:effectLst/>
        </p:spPr>
      </p:pic>
    </p:spTree>
    <p:extLst>
      <p:ext uri="{BB962C8B-B14F-4D97-AF65-F5344CB8AC3E}">
        <p14:creationId xmlns="" xmlns:p14="http://schemas.microsoft.com/office/powerpoint/2010/main" val="3599639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25A61D0-099F-C774-0062-C8956AD10B14}"/>
            </a:ext>
          </a:extLst>
        </p:cNvPr>
        <p:cNvGrpSpPr/>
        <p:nvPr/>
      </p:nvGrpSpPr>
      <p:grpSpPr>
        <a:xfrm>
          <a:off x="0" y="0"/>
          <a:ext cx="0" cy="0"/>
          <a:chOff x="0" y="0"/>
          <a:chExt cx="0" cy="0"/>
        </a:xfrm>
      </p:grpSpPr>
      <p:grpSp>
        <p:nvGrpSpPr>
          <p:cNvPr id="2" name="object 3">
            <a:extLst>
              <a:ext uri="{FF2B5EF4-FFF2-40B4-BE49-F238E27FC236}">
                <a16:creationId xmlns="" xmlns:a16="http://schemas.microsoft.com/office/drawing/2014/main" id="{C44C1A33-7C14-0DEB-3965-284AF49FCF96}"/>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 xmlns:a16="http://schemas.microsoft.com/office/drawing/2014/main" id="{B5AD8913-F996-8CEC-7934-417EC50677A9}"/>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 xmlns:a16="http://schemas.microsoft.com/office/drawing/2014/main" id="{C4C01121-5342-6ED4-E848-5F0A26A4F298}"/>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 xmlns:a16="http://schemas.microsoft.com/office/drawing/2014/main" id="{E76C04D3-36A1-A3D8-4753-54D754D06823}"/>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 xmlns:a16="http://schemas.microsoft.com/office/drawing/2014/main" id="{DEDA527A-944E-DD9F-9390-C3FE8A62152A}"/>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 xmlns:a16="http://schemas.microsoft.com/office/drawing/2014/main" id="{E1E0144C-CD6A-71E3-CB87-9E558AD5FF4A}"/>
              </a:ext>
            </a:extLst>
          </p:cNvPr>
          <p:cNvSpPr txBox="1">
            <a:spLocks noGrp="1"/>
          </p:cNvSpPr>
          <p:nvPr>
            <p:ph type="title"/>
          </p:nvPr>
        </p:nvSpPr>
        <p:spPr>
          <a:xfrm>
            <a:off x="3724479" y="450118"/>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 xmlns:a16="http://schemas.microsoft.com/office/drawing/2014/main" id="{63F76BCB-14FA-BBEA-1CDB-64C0E4637DB7}"/>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 xmlns:a16="http://schemas.microsoft.com/office/drawing/2014/main" id="{7E08911D-DB8D-864A-A56A-021103D1465A}"/>
              </a:ext>
            </a:extLst>
          </p:cNvPr>
          <p:cNvSpPr txBox="1"/>
          <p:nvPr/>
        </p:nvSpPr>
        <p:spPr>
          <a:xfrm>
            <a:off x="990600" y="1449777"/>
            <a:ext cx="8763000" cy="1200329"/>
          </a:xfrm>
          <a:prstGeom prst="rect">
            <a:avLst/>
          </a:prstGeom>
          <a:noFill/>
        </p:spPr>
        <p:txBody>
          <a:bodyPr wrap="square">
            <a:spAutoFit/>
          </a:bodyPr>
          <a:lstStyle/>
          <a:p>
            <a:r>
              <a:rPr lang="en-IN" sz="1800" b="1" u="sng" dirty="0" smtClean="0"/>
              <a:t>Add Course </a:t>
            </a:r>
            <a:r>
              <a:rPr lang="en-IN" sz="1800" b="1" u="sng" dirty="0"/>
              <a:t>Window:</a:t>
            </a:r>
            <a:endParaRPr lang="en-IN" sz="1800" dirty="0"/>
          </a:p>
          <a:p>
            <a:r>
              <a:rPr lang="en-IN" sz="1800" b="1" dirty="0"/>
              <a:t> </a:t>
            </a:r>
            <a:endParaRPr lang="en-IN" sz="1800" dirty="0"/>
          </a:p>
          <a:p>
            <a:pPr algn="just"/>
            <a:r>
              <a:rPr lang="en-US" dirty="0" smtClean="0">
                <a:latin typeface="Times New Roman" pitchFamily="18" charset="0"/>
                <a:cs typeface="Times New Roman" pitchFamily="18" charset="0"/>
              </a:rPr>
              <a:t>This window allows the admin to add new course details such as name, duration, credits, fee, and registration dates.</a:t>
            </a:r>
            <a:endParaRPr lang="en-IN" sz="1800" dirty="0">
              <a:latin typeface="Times New Roman" pitchFamily="18" charset="0"/>
              <a:cs typeface="Times New Roman" pitchFamily="18" charset="0"/>
            </a:endParaRPr>
          </a:p>
        </p:txBody>
      </p:sp>
      <p:pic>
        <p:nvPicPr>
          <p:cNvPr id="8195" name="Picture 3"/>
          <p:cNvPicPr>
            <a:picLocks noChangeAspect="1" noChangeArrowheads="1"/>
          </p:cNvPicPr>
          <p:nvPr/>
        </p:nvPicPr>
        <p:blipFill>
          <a:blip r:embed="rId7"/>
          <a:srcRect/>
          <a:stretch>
            <a:fillRect/>
          </a:stretch>
        </p:blipFill>
        <p:spPr bwMode="auto">
          <a:xfrm>
            <a:off x="1447800" y="2743200"/>
            <a:ext cx="7391400" cy="4648200"/>
          </a:xfrm>
          <a:prstGeom prst="rect">
            <a:avLst/>
          </a:prstGeom>
          <a:noFill/>
          <a:ln w="9525">
            <a:noFill/>
            <a:miter lim="800000"/>
            <a:headEnd/>
            <a:tailEnd/>
          </a:ln>
          <a:effectLst/>
        </p:spPr>
      </p:pic>
    </p:spTree>
    <p:extLst>
      <p:ext uri="{BB962C8B-B14F-4D97-AF65-F5344CB8AC3E}">
        <p14:creationId xmlns="" xmlns:p14="http://schemas.microsoft.com/office/powerpoint/2010/main" val="3599639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25A61D0-099F-C774-0062-C8956AD10B14}"/>
            </a:ext>
          </a:extLst>
        </p:cNvPr>
        <p:cNvGrpSpPr/>
        <p:nvPr/>
      </p:nvGrpSpPr>
      <p:grpSpPr>
        <a:xfrm>
          <a:off x="0" y="0"/>
          <a:ext cx="0" cy="0"/>
          <a:chOff x="0" y="0"/>
          <a:chExt cx="0" cy="0"/>
        </a:xfrm>
      </p:grpSpPr>
      <p:grpSp>
        <p:nvGrpSpPr>
          <p:cNvPr id="2" name="object 3">
            <a:extLst>
              <a:ext uri="{FF2B5EF4-FFF2-40B4-BE49-F238E27FC236}">
                <a16:creationId xmlns="" xmlns:a16="http://schemas.microsoft.com/office/drawing/2014/main" id="{C44C1A33-7C14-0DEB-3965-284AF49FCF96}"/>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 xmlns:a16="http://schemas.microsoft.com/office/drawing/2014/main" id="{B5AD8913-F996-8CEC-7934-417EC50677A9}"/>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 xmlns:a16="http://schemas.microsoft.com/office/drawing/2014/main" id="{C4C01121-5342-6ED4-E848-5F0A26A4F298}"/>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 xmlns:a16="http://schemas.microsoft.com/office/drawing/2014/main" id="{E76C04D3-36A1-A3D8-4753-54D754D06823}"/>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 xmlns:a16="http://schemas.microsoft.com/office/drawing/2014/main" id="{DEDA527A-944E-DD9F-9390-C3FE8A62152A}"/>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 xmlns:a16="http://schemas.microsoft.com/office/drawing/2014/main" id="{E1E0144C-CD6A-71E3-CB87-9E558AD5FF4A}"/>
              </a:ext>
            </a:extLst>
          </p:cNvPr>
          <p:cNvSpPr txBox="1">
            <a:spLocks noGrp="1"/>
          </p:cNvSpPr>
          <p:nvPr>
            <p:ph type="title"/>
          </p:nvPr>
        </p:nvSpPr>
        <p:spPr>
          <a:xfrm>
            <a:off x="3724479" y="450118"/>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 xmlns:a16="http://schemas.microsoft.com/office/drawing/2014/main" id="{63F76BCB-14FA-BBEA-1CDB-64C0E4637DB7}"/>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 xmlns:a16="http://schemas.microsoft.com/office/drawing/2014/main" id="{7E08911D-DB8D-864A-A56A-021103D1465A}"/>
              </a:ext>
            </a:extLst>
          </p:cNvPr>
          <p:cNvSpPr txBox="1"/>
          <p:nvPr/>
        </p:nvSpPr>
        <p:spPr>
          <a:xfrm>
            <a:off x="990600" y="1449777"/>
            <a:ext cx="8763000" cy="1200329"/>
          </a:xfrm>
          <a:prstGeom prst="rect">
            <a:avLst/>
          </a:prstGeom>
          <a:noFill/>
        </p:spPr>
        <p:txBody>
          <a:bodyPr wrap="square">
            <a:spAutoFit/>
          </a:bodyPr>
          <a:lstStyle/>
          <a:p>
            <a:r>
              <a:rPr lang="en-IN" b="1" u="sng" dirty="0" smtClean="0"/>
              <a:t>View</a:t>
            </a:r>
            <a:r>
              <a:rPr lang="en-IN" sz="1800" b="1" u="sng" dirty="0" smtClean="0"/>
              <a:t> Courses </a:t>
            </a:r>
            <a:r>
              <a:rPr lang="en-IN" sz="1800" b="1" u="sng" dirty="0"/>
              <a:t>Window:</a:t>
            </a:r>
            <a:endParaRPr lang="en-IN" sz="1800" dirty="0"/>
          </a:p>
          <a:p>
            <a:r>
              <a:rPr lang="en-IN" sz="1800" b="1" dirty="0"/>
              <a:t> </a:t>
            </a:r>
            <a:endParaRPr lang="en-IN" sz="1800" dirty="0"/>
          </a:p>
          <a:p>
            <a:pPr algn="just"/>
            <a:r>
              <a:rPr lang="en-US" dirty="0" smtClean="0">
                <a:latin typeface="Times New Roman" pitchFamily="18" charset="0"/>
                <a:cs typeface="Times New Roman" pitchFamily="18" charset="0"/>
              </a:rPr>
              <a:t>This window displays all course details and allows the admin to update or delete course information.</a:t>
            </a:r>
            <a:endParaRPr lang="en-IN" sz="1800" dirty="0">
              <a:latin typeface="Times New Roman" pitchFamily="18" charset="0"/>
              <a:cs typeface="Times New Roman" pitchFamily="18" charset="0"/>
            </a:endParaRPr>
          </a:p>
        </p:txBody>
      </p:sp>
      <p:pic>
        <p:nvPicPr>
          <p:cNvPr id="17410" name="Picture 2"/>
          <p:cNvPicPr>
            <a:picLocks noChangeAspect="1" noChangeArrowheads="1"/>
          </p:cNvPicPr>
          <p:nvPr/>
        </p:nvPicPr>
        <p:blipFill>
          <a:blip r:embed="rId7"/>
          <a:srcRect/>
          <a:stretch>
            <a:fillRect/>
          </a:stretch>
        </p:blipFill>
        <p:spPr bwMode="auto">
          <a:xfrm>
            <a:off x="838200" y="2743200"/>
            <a:ext cx="8697913" cy="4503738"/>
          </a:xfrm>
          <a:prstGeom prst="rect">
            <a:avLst/>
          </a:prstGeom>
          <a:noFill/>
          <a:ln w="9525">
            <a:noFill/>
            <a:miter lim="800000"/>
            <a:headEnd/>
            <a:tailEnd/>
          </a:ln>
          <a:effectLst/>
        </p:spPr>
      </p:pic>
    </p:spTree>
    <p:extLst>
      <p:ext uri="{BB962C8B-B14F-4D97-AF65-F5344CB8AC3E}">
        <p14:creationId xmlns="" xmlns:p14="http://schemas.microsoft.com/office/powerpoint/2010/main" val="3599639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25A61D0-099F-C774-0062-C8956AD10B14}"/>
            </a:ext>
          </a:extLst>
        </p:cNvPr>
        <p:cNvGrpSpPr/>
        <p:nvPr/>
      </p:nvGrpSpPr>
      <p:grpSpPr>
        <a:xfrm>
          <a:off x="0" y="0"/>
          <a:ext cx="0" cy="0"/>
          <a:chOff x="0" y="0"/>
          <a:chExt cx="0" cy="0"/>
        </a:xfrm>
      </p:grpSpPr>
      <p:grpSp>
        <p:nvGrpSpPr>
          <p:cNvPr id="2" name="object 3">
            <a:extLst>
              <a:ext uri="{FF2B5EF4-FFF2-40B4-BE49-F238E27FC236}">
                <a16:creationId xmlns="" xmlns:a16="http://schemas.microsoft.com/office/drawing/2014/main" id="{C44C1A33-7C14-0DEB-3965-284AF49FCF96}"/>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 xmlns:a16="http://schemas.microsoft.com/office/drawing/2014/main" id="{B5AD8913-F996-8CEC-7934-417EC50677A9}"/>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 xmlns:a16="http://schemas.microsoft.com/office/drawing/2014/main" id="{C4C01121-5342-6ED4-E848-5F0A26A4F298}"/>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 xmlns:a16="http://schemas.microsoft.com/office/drawing/2014/main" id="{E76C04D3-36A1-A3D8-4753-54D754D06823}"/>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 xmlns:a16="http://schemas.microsoft.com/office/drawing/2014/main" id="{DEDA527A-944E-DD9F-9390-C3FE8A62152A}"/>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 xmlns:a16="http://schemas.microsoft.com/office/drawing/2014/main" id="{E1E0144C-CD6A-71E3-CB87-9E558AD5FF4A}"/>
              </a:ext>
            </a:extLst>
          </p:cNvPr>
          <p:cNvSpPr txBox="1">
            <a:spLocks noGrp="1"/>
          </p:cNvSpPr>
          <p:nvPr>
            <p:ph type="title"/>
          </p:nvPr>
        </p:nvSpPr>
        <p:spPr>
          <a:xfrm>
            <a:off x="3724479" y="450118"/>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 xmlns:a16="http://schemas.microsoft.com/office/drawing/2014/main" id="{63F76BCB-14FA-BBEA-1CDB-64C0E4637DB7}"/>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 xmlns:a16="http://schemas.microsoft.com/office/drawing/2014/main" id="{7E08911D-DB8D-864A-A56A-021103D1465A}"/>
              </a:ext>
            </a:extLst>
          </p:cNvPr>
          <p:cNvSpPr txBox="1"/>
          <p:nvPr/>
        </p:nvSpPr>
        <p:spPr>
          <a:xfrm>
            <a:off x="990600" y="1449777"/>
            <a:ext cx="8763000" cy="1200329"/>
          </a:xfrm>
          <a:prstGeom prst="rect">
            <a:avLst/>
          </a:prstGeom>
          <a:noFill/>
        </p:spPr>
        <p:txBody>
          <a:bodyPr wrap="square">
            <a:spAutoFit/>
          </a:bodyPr>
          <a:lstStyle/>
          <a:p>
            <a:r>
              <a:rPr lang="en-IN" b="1" u="sng" dirty="0" smtClean="0"/>
              <a:t>View</a:t>
            </a:r>
            <a:r>
              <a:rPr lang="en-IN" sz="1800" b="1" u="sng" dirty="0" smtClean="0"/>
              <a:t> Registrations </a:t>
            </a:r>
            <a:r>
              <a:rPr lang="en-IN" sz="1800" b="1" u="sng" dirty="0"/>
              <a:t>Window:</a:t>
            </a:r>
            <a:endParaRPr lang="en-IN" sz="1800" dirty="0"/>
          </a:p>
          <a:p>
            <a:r>
              <a:rPr lang="en-IN" sz="1800" b="1" dirty="0"/>
              <a:t> </a:t>
            </a:r>
            <a:endParaRPr lang="en-IN" sz="1800" dirty="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This window displays all student course registrations along with their status and registration details.</a:t>
            </a:r>
            <a:endParaRPr lang="en-IN" sz="1800" dirty="0">
              <a:latin typeface="Times New Roman" pitchFamily="18" charset="0"/>
              <a:cs typeface="Times New Roman" pitchFamily="18" charset="0"/>
            </a:endParaRPr>
          </a:p>
        </p:txBody>
      </p:sp>
      <p:pic>
        <p:nvPicPr>
          <p:cNvPr id="18434" name="Picture 2"/>
          <p:cNvPicPr>
            <a:picLocks noChangeAspect="1" noChangeArrowheads="1"/>
          </p:cNvPicPr>
          <p:nvPr/>
        </p:nvPicPr>
        <p:blipFill>
          <a:blip r:embed="rId7"/>
          <a:srcRect/>
          <a:stretch>
            <a:fillRect/>
          </a:stretch>
        </p:blipFill>
        <p:spPr bwMode="auto">
          <a:xfrm>
            <a:off x="838200" y="2743200"/>
            <a:ext cx="8707437" cy="4419600"/>
          </a:xfrm>
          <a:prstGeom prst="rect">
            <a:avLst/>
          </a:prstGeom>
          <a:noFill/>
          <a:ln w="9525">
            <a:noFill/>
            <a:miter lim="800000"/>
            <a:headEnd/>
            <a:tailEnd/>
          </a:ln>
          <a:effectLst/>
        </p:spPr>
      </p:pic>
    </p:spTree>
    <p:extLst>
      <p:ext uri="{BB962C8B-B14F-4D97-AF65-F5344CB8AC3E}">
        <p14:creationId xmlns="" xmlns:p14="http://schemas.microsoft.com/office/powerpoint/2010/main" val="3599639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A5FAADD-4D19-CE1A-A0AE-6EEF35365F00}"/>
            </a:ext>
          </a:extLst>
        </p:cNvPr>
        <p:cNvGrpSpPr/>
        <p:nvPr/>
      </p:nvGrpSpPr>
      <p:grpSpPr>
        <a:xfrm>
          <a:off x="0" y="0"/>
          <a:ext cx="0" cy="0"/>
          <a:chOff x="0" y="0"/>
          <a:chExt cx="0" cy="0"/>
        </a:xfrm>
      </p:grpSpPr>
      <p:grpSp>
        <p:nvGrpSpPr>
          <p:cNvPr id="5" name="object 3">
            <a:extLst>
              <a:ext uri="{FF2B5EF4-FFF2-40B4-BE49-F238E27FC236}">
                <a16:creationId xmlns="" xmlns:a16="http://schemas.microsoft.com/office/drawing/2014/main" id="{D7B9191B-FE96-8A59-9690-2C061E758CB3}"/>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 xmlns:a16="http://schemas.microsoft.com/office/drawing/2014/main" id="{20D78732-F9B9-1FDA-D8E5-B64B1742716B}"/>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 xmlns:a16="http://schemas.microsoft.com/office/drawing/2014/main" id="{0F82D761-8FA6-96D2-9CDC-DFD4213896D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 xmlns:a16="http://schemas.microsoft.com/office/drawing/2014/main" id="{678599C3-BD7C-742E-28E2-F7E1A4CB43D8}"/>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 xmlns:a16="http://schemas.microsoft.com/office/drawing/2014/main" id="{9F6FA399-08A4-A0BD-F528-C5D21B7052B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 xmlns:a16="http://schemas.microsoft.com/office/drawing/2014/main" id="{8F364F5D-D793-1E9D-BAE2-D5AEB2FAA6EF}"/>
              </a:ext>
            </a:extLst>
          </p:cNvPr>
          <p:cNvSpPr txBox="1">
            <a:spLocks noGrp="1"/>
          </p:cNvSpPr>
          <p:nvPr>
            <p:ph type="title"/>
          </p:nvPr>
        </p:nvSpPr>
        <p:spPr>
          <a:xfrm>
            <a:off x="3886200" y="416480"/>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 xmlns:a16="http://schemas.microsoft.com/office/drawing/2014/main" id="{3FA4B9F1-F58E-6088-7BFB-C923676C0FFD}"/>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 xmlns:a16="http://schemas.microsoft.com/office/drawing/2014/main" id="{DFDFF7E8-2D7E-EE44-718C-EFE70C9A2E40}"/>
              </a:ext>
            </a:extLst>
          </p:cNvPr>
          <p:cNvSpPr txBox="1"/>
          <p:nvPr/>
        </p:nvSpPr>
        <p:spPr>
          <a:xfrm>
            <a:off x="990600" y="1449777"/>
            <a:ext cx="8763000" cy="1200329"/>
          </a:xfrm>
          <a:prstGeom prst="rect">
            <a:avLst/>
          </a:prstGeom>
          <a:noFill/>
        </p:spPr>
        <p:txBody>
          <a:bodyPr wrap="square">
            <a:spAutoFit/>
          </a:bodyPr>
          <a:lstStyle/>
          <a:p>
            <a:r>
              <a:rPr lang="en-IN" b="1" u="sng" dirty="0" smtClean="0"/>
              <a:t>Forgot Password</a:t>
            </a:r>
            <a:r>
              <a:rPr lang="en-IN" sz="1800" b="1" u="sng" dirty="0" smtClean="0"/>
              <a:t> </a:t>
            </a:r>
            <a:r>
              <a:rPr lang="en-IN" sz="1800" b="1" u="sng" dirty="0"/>
              <a:t>Window:</a:t>
            </a:r>
            <a:endParaRPr lang="en-IN" sz="1800" dirty="0"/>
          </a:p>
          <a:p>
            <a:r>
              <a:rPr lang="en-IN" sz="1800" b="1" dirty="0"/>
              <a:t> </a:t>
            </a:r>
            <a:endParaRPr lang="en-IN" sz="1800" dirty="0"/>
          </a:p>
          <a:p>
            <a:pPr algn="just"/>
            <a:r>
              <a:rPr lang="en-US" dirty="0" smtClean="0">
                <a:latin typeface="Times New Roman" pitchFamily="18" charset="0"/>
                <a:cs typeface="Times New Roman" pitchFamily="18" charset="0"/>
              </a:rPr>
              <a:t>This window allows users to reset their password securely using email verification and OTP authentication.</a:t>
            </a:r>
            <a:endParaRPr lang="en-IN" sz="1800" dirty="0">
              <a:latin typeface="Times New Roman" pitchFamily="18" charset="0"/>
              <a:cs typeface="Times New Roman" pitchFamily="18" charset="0"/>
            </a:endParaRPr>
          </a:p>
        </p:txBody>
      </p:sp>
      <p:pic>
        <p:nvPicPr>
          <p:cNvPr id="9218" name="Picture 2"/>
          <p:cNvPicPr>
            <a:picLocks noChangeAspect="1" noChangeArrowheads="1"/>
          </p:cNvPicPr>
          <p:nvPr/>
        </p:nvPicPr>
        <p:blipFill>
          <a:blip r:embed="rId7"/>
          <a:srcRect/>
          <a:stretch>
            <a:fillRect/>
          </a:stretch>
        </p:blipFill>
        <p:spPr bwMode="auto">
          <a:xfrm>
            <a:off x="1447800" y="2743200"/>
            <a:ext cx="7543800" cy="4495800"/>
          </a:xfrm>
          <a:prstGeom prst="rect">
            <a:avLst/>
          </a:prstGeom>
          <a:noFill/>
          <a:ln w="9525">
            <a:noFill/>
            <a:miter lim="800000"/>
            <a:headEnd/>
            <a:tailEnd/>
          </a:ln>
          <a:effectLst/>
        </p:spPr>
      </p:pic>
    </p:spTree>
    <p:extLst>
      <p:ext uri="{BB962C8B-B14F-4D97-AF65-F5344CB8AC3E}">
        <p14:creationId xmlns="" xmlns:p14="http://schemas.microsoft.com/office/powerpoint/2010/main" val="40492491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A5FAADD-4D19-CE1A-A0AE-6EEF35365F00}"/>
            </a:ext>
          </a:extLst>
        </p:cNvPr>
        <p:cNvGrpSpPr/>
        <p:nvPr/>
      </p:nvGrpSpPr>
      <p:grpSpPr>
        <a:xfrm>
          <a:off x="0" y="0"/>
          <a:ext cx="0" cy="0"/>
          <a:chOff x="0" y="0"/>
          <a:chExt cx="0" cy="0"/>
        </a:xfrm>
      </p:grpSpPr>
      <p:grpSp>
        <p:nvGrpSpPr>
          <p:cNvPr id="2" name="object 3">
            <a:extLst>
              <a:ext uri="{FF2B5EF4-FFF2-40B4-BE49-F238E27FC236}">
                <a16:creationId xmlns="" xmlns:a16="http://schemas.microsoft.com/office/drawing/2014/main" id="{D7B9191B-FE96-8A59-9690-2C061E758CB3}"/>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 xmlns:a16="http://schemas.microsoft.com/office/drawing/2014/main" id="{20D78732-F9B9-1FDA-D8E5-B64B1742716B}"/>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 xmlns:a16="http://schemas.microsoft.com/office/drawing/2014/main" id="{0F82D761-8FA6-96D2-9CDC-DFD4213896D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 xmlns:a16="http://schemas.microsoft.com/office/drawing/2014/main" id="{678599C3-BD7C-742E-28E2-F7E1A4CB43D8}"/>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 xmlns:a16="http://schemas.microsoft.com/office/drawing/2014/main" id="{9F6FA399-08A4-A0BD-F528-C5D21B7052B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 xmlns:a16="http://schemas.microsoft.com/office/drawing/2014/main" id="{8F364F5D-D793-1E9D-BAE2-D5AEB2FAA6EF}"/>
              </a:ext>
            </a:extLst>
          </p:cNvPr>
          <p:cNvSpPr txBox="1">
            <a:spLocks noGrp="1"/>
          </p:cNvSpPr>
          <p:nvPr>
            <p:ph type="title"/>
          </p:nvPr>
        </p:nvSpPr>
        <p:spPr>
          <a:xfrm>
            <a:off x="3886200" y="416480"/>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 xmlns:a16="http://schemas.microsoft.com/office/drawing/2014/main" id="{3FA4B9F1-F58E-6088-7BFB-C923676C0FFD}"/>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 xmlns:a16="http://schemas.microsoft.com/office/drawing/2014/main" id="{DFDFF7E8-2D7E-EE44-718C-EFE70C9A2E40}"/>
              </a:ext>
            </a:extLst>
          </p:cNvPr>
          <p:cNvSpPr txBox="1"/>
          <p:nvPr/>
        </p:nvSpPr>
        <p:spPr>
          <a:xfrm>
            <a:off x="990600" y="1449777"/>
            <a:ext cx="8763000" cy="1200329"/>
          </a:xfrm>
          <a:prstGeom prst="rect">
            <a:avLst/>
          </a:prstGeom>
          <a:noFill/>
        </p:spPr>
        <p:txBody>
          <a:bodyPr wrap="square">
            <a:spAutoFit/>
          </a:bodyPr>
          <a:lstStyle/>
          <a:p>
            <a:r>
              <a:rPr lang="en-IN" sz="1800" b="1" u="sng" dirty="0" smtClean="0"/>
              <a:t>Student Dashboard </a:t>
            </a:r>
            <a:r>
              <a:rPr lang="en-IN" sz="1800" b="1" u="sng" dirty="0"/>
              <a:t>Window:</a:t>
            </a:r>
            <a:endParaRPr lang="en-IN" sz="1800" dirty="0"/>
          </a:p>
          <a:p>
            <a:r>
              <a:rPr lang="en-IN" sz="1800" b="1" dirty="0"/>
              <a:t> </a:t>
            </a:r>
            <a:endParaRPr lang="en-IN" sz="1800" dirty="0"/>
          </a:p>
          <a:p>
            <a:pPr algn="just"/>
            <a:r>
              <a:rPr lang="en-US" dirty="0" smtClean="0">
                <a:latin typeface="Times New Roman" pitchFamily="18" charset="0"/>
                <a:cs typeface="Times New Roman" pitchFamily="18" charset="0"/>
              </a:rPr>
              <a:t>This window allows students to register for courses, view enrolled courses, check payment history, and manage their profile.</a:t>
            </a:r>
            <a:endParaRPr lang="en-IN" sz="1800" dirty="0">
              <a:latin typeface="Times New Roman" pitchFamily="18" charset="0"/>
              <a:cs typeface="Times New Roman" pitchFamily="18" charset="0"/>
            </a:endParaRPr>
          </a:p>
        </p:txBody>
      </p:sp>
      <p:pic>
        <p:nvPicPr>
          <p:cNvPr id="10242" name="Picture 2"/>
          <p:cNvPicPr>
            <a:picLocks noChangeAspect="1" noChangeArrowheads="1"/>
          </p:cNvPicPr>
          <p:nvPr/>
        </p:nvPicPr>
        <p:blipFill>
          <a:blip r:embed="rId7"/>
          <a:srcRect/>
          <a:stretch>
            <a:fillRect/>
          </a:stretch>
        </p:blipFill>
        <p:spPr bwMode="auto">
          <a:xfrm>
            <a:off x="1447800" y="2819400"/>
            <a:ext cx="6858000" cy="4191000"/>
          </a:xfrm>
          <a:prstGeom prst="rect">
            <a:avLst/>
          </a:prstGeom>
          <a:noFill/>
          <a:ln w="9525">
            <a:noFill/>
            <a:miter lim="800000"/>
            <a:headEnd/>
            <a:tailEnd/>
          </a:ln>
          <a:effectLst/>
        </p:spPr>
      </p:pic>
    </p:spTree>
    <p:extLst>
      <p:ext uri="{BB962C8B-B14F-4D97-AF65-F5344CB8AC3E}">
        <p14:creationId xmlns="" xmlns:p14="http://schemas.microsoft.com/office/powerpoint/2010/main" val="40492491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A5FAADD-4D19-CE1A-A0AE-6EEF35365F00}"/>
            </a:ext>
          </a:extLst>
        </p:cNvPr>
        <p:cNvGrpSpPr/>
        <p:nvPr/>
      </p:nvGrpSpPr>
      <p:grpSpPr>
        <a:xfrm>
          <a:off x="0" y="0"/>
          <a:ext cx="0" cy="0"/>
          <a:chOff x="0" y="0"/>
          <a:chExt cx="0" cy="0"/>
        </a:xfrm>
      </p:grpSpPr>
      <p:grpSp>
        <p:nvGrpSpPr>
          <p:cNvPr id="2" name="object 3">
            <a:extLst>
              <a:ext uri="{FF2B5EF4-FFF2-40B4-BE49-F238E27FC236}">
                <a16:creationId xmlns="" xmlns:a16="http://schemas.microsoft.com/office/drawing/2014/main" id="{D7B9191B-FE96-8A59-9690-2C061E758CB3}"/>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 xmlns:a16="http://schemas.microsoft.com/office/drawing/2014/main" id="{20D78732-F9B9-1FDA-D8E5-B64B1742716B}"/>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 xmlns:a16="http://schemas.microsoft.com/office/drawing/2014/main" id="{0F82D761-8FA6-96D2-9CDC-DFD4213896D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 xmlns:a16="http://schemas.microsoft.com/office/drawing/2014/main" id="{678599C3-BD7C-742E-28E2-F7E1A4CB43D8}"/>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 xmlns:a16="http://schemas.microsoft.com/office/drawing/2014/main" id="{9F6FA399-08A4-A0BD-F528-C5D21B7052B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 xmlns:a16="http://schemas.microsoft.com/office/drawing/2014/main" id="{8F364F5D-D793-1E9D-BAE2-D5AEB2FAA6EF}"/>
              </a:ext>
            </a:extLst>
          </p:cNvPr>
          <p:cNvSpPr txBox="1">
            <a:spLocks noGrp="1"/>
          </p:cNvSpPr>
          <p:nvPr>
            <p:ph type="title"/>
          </p:nvPr>
        </p:nvSpPr>
        <p:spPr>
          <a:xfrm>
            <a:off x="3886200" y="416480"/>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 xmlns:a16="http://schemas.microsoft.com/office/drawing/2014/main" id="{3FA4B9F1-F58E-6088-7BFB-C923676C0FFD}"/>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 xmlns:a16="http://schemas.microsoft.com/office/drawing/2014/main" id="{DFDFF7E8-2D7E-EE44-718C-EFE70C9A2E40}"/>
              </a:ext>
            </a:extLst>
          </p:cNvPr>
          <p:cNvSpPr txBox="1"/>
          <p:nvPr/>
        </p:nvSpPr>
        <p:spPr>
          <a:xfrm>
            <a:off x="990600" y="1449777"/>
            <a:ext cx="8763000" cy="1200329"/>
          </a:xfrm>
          <a:prstGeom prst="rect">
            <a:avLst/>
          </a:prstGeom>
          <a:noFill/>
        </p:spPr>
        <p:txBody>
          <a:bodyPr wrap="square">
            <a:spAutoFit/>
          </a:bodyPr>
          <a:lstStyle/>
          <a:p>
            <a:r>
              <a:rPr lang="en-IN" b="1" u="sng" dirty="0" smtClean="0"/>
              <a:t>Register course</a:t>
            </a:r>
            <a:r>
              <a:rPr lang="en-IN" sz="1800" b="1" u="sng" dirty="0" smtClean="0"/>
              <a:t> </a:t>
            </a:r>
            <a:r>
              <a:rPr lang="en-IN" sz="1800" b="1" u="sng" dirty="0"/>
              <a:t>Window:</a:t>
            </a:r>
            <a:endParaRPr lang="en-IN" sz="1800" dirty="0"/>
          </a:p>
          <a:p>
            <a:r>
              <a:rPr lang="en-IN" sz="1800" b="1" dirty="0"/>
              <a:t> </a:t>
            </a:r>
            <a:endParaRPr lang="en-IN" sz="1800" dirty="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This window displays available courses with details and allows students to select and register for a course.</a:t>
            </a:r>
            <a:endParaRPr lang="en-IN" sz="1800" dirty="0">
              <a:latin typeface="Times New Roman" pitchFamily="18" charset="0"/>
              <a:cs typeface="Times New Roman" pitchFamily="18" charset="0"/>
            </a:endParaRPr>
          </a:p>
        </p:txBody>
      </p:sp>
      <p:pic>
        <p:nvPicPr>
          <p:cNvPr id="11268" name="Picture 4"/>
          <p:cNvPicPr>
            <a:picLocks noChangeAspect="1" noChangeArrowheads="1"/>
          </p:cNvPicPr>
          <p:nvPr/>
        </p:nvPicPr>
        <p:blipFill>
          <a:blip r:embed="rId7"/>
          <a:srcRect/>
          <a:stretch>
            <a:fillRect/>
          </a:stretch>
        </p:blipFill>
        <p:spPr bwMode="auto">
          <a:xfrm>
            <a:off x="838200" y="2743200"/>
            <a:ext cx="8716963" cy="4213225"/>
          </a:xfrm>
          <a:prstGeom prst="rect">
            <a:avLst/>
          </a:prstGeom>
          <a:noFill/>
          <a:ln w="9525">
            <a:noFill/>
            <a:miter lim="800000"/>
            <a:headEnd/>
            <a:tailEnd/>
          </a:ln>
          <a:effectLst/>
        </p:spPr>
      </p:pic>
    </p:spTree>
    <p:extLst>
      <p:ext uri="{BB962C8B-B14F-4D97-AF65-F5344CB8AC3E}">
        <p14:creationId xmlns="" xmlns:p14="http://schemas.microsoft.com/office/powerpoint/2010/main" val="40492491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A5FAADD-4D19-CE1A-A0AE-6EEF35365F00}"/>
            </a:ext>
          </a:extLst>
        </p:cNvPr>
        <p:cNvGrpSpPr/>
        <p:nvPr/>
      </p:nvGrpSpPr>
      <p:grpSpPr>
        <a:xfrm>
          <a:off x="0" y="0"/>
          <a:ext cx="0" cy="0"/>
          <a:chOff x="0" y="0"/>
          <a:chExt cx="0" cy="0"/>
        </a:xfrm>
      </p:grpSpPr>
      <p:grpSp>
        <p:nvGrpSpPr>
          <p:cNvPr id="2" name="object 3">
            <a:extLst>
              <a:ext uri="{FF2B5EF4-FFF2-40B4-BE49-F238E27FC236}">
                <a16:creationId xmlns="" xmlns:a16="http://schemas.microsoft.com/office/drawing/2014/main" id="{D7B9191B-FE96-8A59-9690-2C061E758CB3}"/>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 xmlns:a16="http://schemas.microsoft.com/office/drawing/2014/main" id="{20D78732-F9B9-1FDA-D8E5-B64B1742716B}"/>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 xmlns:a16="http://schemas.microsoft.com/office/drawing/2014/main" id="{0F82D761-8FA6-96D2-9CDC-DFD4213896D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 xmlns:a16="http://schemas.microsoft.com/office/drawing/2014/main" id="{678599C3-BD7C-742E-28E2-F7E1A4CB43D8}"/>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 xmlns:a16="http://schemas.microsoft.com/office/drawing/2014/main" id="{9F6FA399-08A4-A0BD-F528-C5D21B7052B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 xmlns:a16="http://schemas.microsoft.com/office/drawing/2014/main" id="{8F364F5D-D793-1E9D-BAE2-D5AEB2FAA6EF}"/>
              </a:ext>
            </a:extLst>
          </p:cNvPr>
          <p:cNvSpPr txBox="1">
            <a:spLocks noGrp="1"/>
          </p:cNvSpPr>
          <p:nvPr>
            <p:ph type="title"/>
          </p:nvPr>
        </p:nvSpPr>
        <p:spPr>
          <a:xfrm>
            <a:off x="3886200" y="416480"/>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 xmlns:a16="http://schemas.microsoft.com/office/drawing/2014/main" id="{3FA4B9F1-F58E-6088-7BFB-C923676C0FFD}"/>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 xmlns:a16="http://schemas.microsoft.com/office/drawing/2014/main" id="{DFDFF7E8-2D7E-EE44-718C-EFE70C9A2E40}"/>
              </a:ext>
            </a:extLst>
          </p:cNvPr>
          <p:cNvSpPr txBox="1"/>
          <p:nvPr/>
        </p:nvSpPr>
        <p:spPr>
          <a:xfrm>
            <a:off x="990600" y="1449777"/>
            <a:ext cx="8763000" cy="1200329"/>
          </a:xfrm>
          <a:prstGeom prst="rect">
            <a:avLst/>
          </a:prstGeom>
          <a:noFill/>
        </p:spPr>
        <p:txBody>
          <a:bodyPr wrap="square">
            <a:spAutoFit/>
          </a:bodyPr>
          <a:lstStyle/>
          <a:p>
            <a:r>
              <a:rPr lang="en-IN" b="1" u="sng" dirty="0" smtClean="0"/>
              <a:t>View Registered courses</a:t>
            </a:r>
            <a:r>
              <a:rPr lang="en-IN" sz="1800" b="1" u="sng" dirty="0" smtClean="0"/>
              <a:t> </a:t>
            </a:r>
            <a:r>
              <a:rPr lang="en-IN" sz="1800" b="1" u="sng" dirty="0"/>
              <a:t>Window:</a:t>
            </a:r>
            <a:endParaRPr lang="en-IN" sz="1800" dirty="0"/>
          </a:p>
          <a:p>
            <a:r>
              <a:rPr lang="en-IN" sz="1800" b="1" dirty="0"/>
              <a:t> </a:t>
            </a:r>
            <a:endParaRPr lang="en-IN" sz="1800" dirty="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This window displays the courses registered by the student along with their details and allows course management.</a:t>
            </a:r>
            <a:endParaRPr lang="en-IN" sz="1800" dirty="0">
              <a:latin typeface="Times New Roman" pitchFamily="18" charset="0"/>
              <a:cs typeface="Times New Roman" pitchFamily="18" charset="0"/>
            </a:endParaRPr>
          </a:p>
        </p:txBody>
      </p:sp>
      <p:pic>
        <p:nvPicPr>
          <p:cNvPr id="14339" name="Picture 3"/>
          <p:cNvPicPr>
            <a:picLocks noChangeAspect="1" noChangeArrowheads="1"/>
          </p:cNvPicPr>
          <p:nvPr/>
        </p:nvPicPr>
        <p:blipFill>
          <a:blip r:embed="rId7"/>
          <a:srcRect/>
          <a:stretch>
            <a:fillRect/>
          </a:stretch>
        </p:blipFill>
        <p:spPr bwMode="auto">
          <a:xfrm>
            <a:off x="1143001" y="2895600"/>
            <a:ext cx="8153400" cy="3970338"/>
          </a:xfrm>
          <a:prstGeom prst="rect">
            <a:avLst/>
          </a:prstGeom>
          <a:noFill/>
          <a:ln w="9525">
            <a:noFill/>
            <a:miter lim="800000"/>
            <a:headEnd/>
            <a:tailEnd/>
          </a:ln>
          <a:effectLst/>
        </p:spPr>
      </p:pic>
    </p:spTree>
    <p:extLst>
      <p:ext uri="{BB962C8B-B14F-4D97-AF65-F5344CB8AC3E}">
        <p14:creationId xmlns="" xmlns:p14="http://schemas.microsoft.com/office/powerpoint/2010/main" val="40492491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A5FAADD-4D19-CE1A-A0AE-6EEF35365F00}"/>
            </a:ext>
          </a:extLst>
        </p:cNvPr>
        <p:cNvGrpSpPr/>
        <p:nvPr/>
      </p:nvGrpSpPr>
      <p:grpSpPr>
        <a:xfrm>
          <a:off x="0" y="0"/>
          <a:ext cx="0" cy="0"/>
          <a:chOff x="0" y="0"/>
          <a:chExt cx="0" cy="0"/>
        </a:xfrm>
      </p:grpSpPr>
      <p:grpSp>
        <p:nvGrpSpPr>
          <p:cNvPr id="2" name="object 3">
            <a:extLst>
              <a:ext uri="{FF2B5EF4-FFF2-40B4-BE49-F238E27FC236}">
                <a16:creationId xmlns="" xmlns:a16="http://schemas.microsoft.com/office/drawing/2014/main" id="{D7B9191B-FE96-8A59-9690-2C061E758CB3}"/>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 xmlns:a16="http://schemas.microsoft.com/office/drawing/2014/main" id="{20D78732-F9B9-1FDA-D8E5-B64B1742716B}"/>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 xmlns:a16="http://schemas.microsoft.com/office/drawing/2014/main" id="{0F82D761-8FA6-96D2-9CDC-DFD4213896D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 xmlns:a16="http://schemas.microsoft.com/office/drawing/2014/main" id="{678599C3-BD7C-742E-28E2-F7E1A4CB43D8}"/>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 xmlns:a16="http://schemas.microsoft.com/office/drawing/2014/main" id="{9F6FA399-08A4-A0BD-F528-C5D21B7052B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 xmlns:a16="http://schemas.microsoft.com/office/drawing/2014/main" id="{8F364F5D-D793-1E9D-BAE2-D5AEB2FAA6EF}"/>
              </a:ext>
            </a:extLst>
          </p:cNvPr>
          <p:cNvSpPr txBox="1">
            <a:spLocks noGrp="1"/>
          </p:cNvSpPr>
          <p:nvPr>
            <p:ph type="title"/>
          </p:nvPr>
        </p:nvSpPr>
        <p:spPr>
          <a:xfrm>
            <a:off x="3886200" y="416480"/>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 xmlns:a16="http://schemas.microsoft.com/office/drawing/2014/main" id="{3FA4B9F1-F58E-6088-7BFB-C923676C0FFD}"/>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 xmlns:a16="http://schemas.microsoft.com/office/drawing/2014/main" id="{DFDFF7E8-2D7E-EE44-718C-EFE70C9A2E40}"/>
              </a:ext>
            </a:extLst>
          </p:cNvPr>
          <p:cNvSpPr txBox="1"/>
          <p:nvPr/>
        </p:nvSpPr>
        <p:spPr>
          <a:xfrm>
            <a:off x="990600" y="1449777"/>
            <a:ext cx="8763000" cy="1200329"/>
          </a:xfrm>
          <a:prstGeom prst="rect">
            <a:avLst/>
          </a:prstGeom>
          <a:noFill/>
        </p:spPr>
        <p:txBody>
          <a:bodyPr wrap="square">
            <a:spAutoFit/>
          </a:bodyPr>
          <a:lstStyle/>
          <a:p>
            <a:r>
              <a:rPr lang="en-IN" b="1" u="sng" dirty="0" smtClean="0"/>
              <a:t>Payment History </a:t>
            </a:r>
            <a:r>
              <a:rPr lang="en-IN" sz="1800" b="1" u="sng" dirty="0" smtClean="0"/>
              <a:t>Window:</a:t>
            </a:r>
          </a:p>
          <a:p>
            <a:endParaRPr lang="en-IN" sz="1800" dirty="0"/>
          </a:p>
          <a:p>
            <a:r>
              <a:rPr lang="en-US" dirty="0" smtClean="0">
                <a:latin typeface="Times New Roman" pitchFamily="18" charset="0"/>
                <a:cs typeface="Times New Roman" pitchFamily="18" charset="0"/>
              </a:rPr>
              <a:t>This window displays the student’s payment history, including transaction details, amount, date, and status.</a:t>
            </a:r>
            <a:endParaRPr lang="en-IN" sz="1800" dirty="0">
              <a:latin typeface="Times New Roman" pitchFamily="18" charset="0"/>
              <a:cs typeface="Times New Roman" pitchFamily="18" charset="0"/>
            </a:endParaRPr>
          </a:p>
        </p:txBody>
      </p:sp>
      <p:pic>
        <p:nvPicPr>
          <p:cNvPr id="15362" name="Picture 2"/>
          <p:cNvPicPr>
            <a:picLocks noChangeAspect="1" noChangeArrowheads="1"/>
          </p:cNvPicPr>
          <p:nvPr/>
        </p:nvPicPr>
        <p:blipFill>
          <a:blip r:embed="rId7"/>
          <a:srcRect/>
          <a:stretch>
            <a:fillRect/>
          </a:stretch>
        </p:blipFill>
        <p:spPr bwMode="auto">
          <a:xfrm>
            <a:off x="838200" y="2895600"/>
            <a:ext cx="8707437" cy="4419600"/>
          </a:xfrm>
          <a:prstGeom prst="rect">
            <a:avLst/>
          </a:prstGeom>
          <a:noFill/>
          <a:ln w="9525">
            <a:noFill/>
            <a:miter lim="800000"/>
            <a:headEnd/>
            <a:tailEnd/>
          </a:ln>
          <a:effectLst/>
        </p:spPr>
      </p:pic>
    </p:spTree>
    <p:extLst>
      <p:ext uri="{BB962C8B-B14F-4D97-AF65-F5344CB8AC3E}">
        <p14:creationId xmlns="" xmlns:p14="http://schemas.microsoft.com/office/powerpoint/2010/main" val="40492491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A5FAADD-4D19-CE1A-A0AE-6EEF35365F00}"/>
            </a:ext>
          </a:extLst>
        </p:cNvPr>
        <p:cNvGrpSpPr/>
        <p:nvPr/>
      </p:nvGrpSpPr>
      <p:grpSpPr>
        <a:xfrm>
          <a:off x="0" y="0"/>
          <a:ext cx="0" cy="0"/>
          <a:chOff x="0" y="0"/>
          <a:chExt cx="0" cy="0"/>
        </a:xfrm>
      </p:grpSpPr>
      <p:grpSp>
        <p:nvGrpSpPr>
          <p:cNvPr id="2" name="object 3">
            <a:extLst>
              <a:ext uri="{FF2B5EF4-FFF2-40B4-BE49-F238E27FC236}">
                <a16:creationId xmlns="" xmlns:a16="http://schemas.microsoft.com/office/drawing/2014/main" id="{D7B9191B-FE96-8A59-9690-2C061E758CB3}"/>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 xmlns:a16="http://schemas.microsoft.com/office/drawing/2014/main" id="{20D78732-F9B9-1FDA-D8E5-B64B1742716B}"/>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 xmlns:a16="http://schemas.microsoft.com/office/drawing/2014/main" id="{0F82D761-8FA6-96D2-9CDC-DFD4213896D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 xmlns:a16="http://schemas.microsoft.com/office/drawing/2014/main" id="{678599C3-BD7C-742E-28E2-F7E1A4CB43D8}"/>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 xmlns:a16="http://schemas.microsoft.com/office/drawing/2014/main" id="{9F6FA399-08A4-A0BD-F528-C5D21B7052B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 xmlns:a16="http://schemas.microsoft.com/office/drawing/2014/main" id="{8F364F5D-D793-1E9D-BAE2-D5AEB2FAA6EF}"/>
              </a:ext>
            </a:extLst>
          </p:cNvPr>
          <p:cNvSpPr txBox="1">
            <a:spLocks noGrp="1"/>
          </p:cNvSpPr>
          <p:nvPr>
            <p:ph type="title"/>
          </p:nvPr>
        </p:nvSpPr>
        <p:spPr>
          <a:xfrm>
            <a:off x="3886200" y="416480"/>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 xmlns:a16="http://schemas.microsoft.com/office/drawing/2014/main" id="{3FA4B9F1-F58E-6088-7BFB-C923676C0FFD}"/>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 xmlns:a16="http://schemas.microsoft.com/office/drawing/2014/main" id="{DFDFF7E8-2D7E-EE44-718C-EFE70C9A2E40}"/>
              </a:ext>
            </a:extLst>
          </p:cNvPr>
          <p:cNvSpPr txBox="1"/>
          <p:nvPr/>
        </p:nvSpPr>
        <p:spPr>
          <a:xfrm>
            <a:off x="990600" y="1449777"/>
            <a:ext cx="8763000" cy="1200329"/>
          </a:xfrm>
          <a:prstGeom prst="rect">
            <a:avLst/>
          </a:prstGeom>
          <a:noFill/>
        </p:spPr>
        <p:txBody>
          <a:bodyPr wrap="square">
            <a:spAutoFit/>
          </a:bodyPr>
          <a:lstStyle/>
          <a:p>
            <a:r>
              <a:rPr lang="en-IN" sz="1800" b="1" u="sng" dirty="0" smtClean="0"/>
              <a:t>Profile </a:t>
            </a:r>
            <a:r>
              <a:rPr lang="en-IN" sz="1800" b="1" u="sng" dirty="0"/>
              <a:t>Window:</a:t>
            </a:r>
            <a:endParaRPr lang="en-IN" sz="1800" dirty="0"/>
          </a:p>
          <a:p>
            <a:r>
              <a:rPr lang="en-IN" sz="1800" b="1" dirty="0"/>
              <a:t> </a:t>
            </a:r>
            <a:endParaRPr lang="en-IN" sz="1800" dirty="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This window displays the student’s personal details, registered courses, and payment information.</a:t>
            </a:r>
            <a:endParaRPr lang="en-IN" sz="1800" dirty="0">
              <a:latin typeface="Times New Roman" pitchFamily="18" charset="0"/>
              <a:cs typeface="Times New Roman" pitchFamily="18" charset="0"/>
            </a:endParaRPr>
          </a:p>
        </p:txBody>
      </p:sp>
      <p:pic>
        <p:nvPicPr>
          <p:cNvPr id="12290" name="Picture 2"/>
          <p:cNvPicPr>
            <a:picLocks noChangeAspect="1" noChangeArrowheads="1"/>
          </p:cNvPicPr>
          <p:nvPr/>
        </p:nvPicPr>
        <p:blipFill>
          <a:blip r:embed="rId7"/>
          <a:srcRect/>
          <a:stretch>
            <a:fillRect/>
          </a:stretch>
        </p:blipFill>
        <p:spPr bwMode="auto">
          <a:xfrm>
            <a:off x="1524000" y="2971800"/>
            <a:ext cx="7010400" cy="4495800"/>
          </a:xfrm>
          <a:prstGeom prst="rect">
            <a:avLst/>
          </a:prstGeom>
          <a:noFill/>
          <a:ln w="9525">
            <a:noFill/>
            <a:miter lim="800000"/>
            <a:headEnd/>
            <a:tailEnd/>
          </a:ln>
          <a:effectLst/>
        </p:spPr>
      </p:pic>
    </p:spTree>
    <p:extLst>
      <p:ext uri="{BB962C8B-B14F-4D97-AF65-F5344CB8AC3E}">
        <p14:creationId xmlns="" xmlns:p14="http://schemas.microsoft.com/office/powerpoint/2010/main" val="40492491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A5FAADD-4D19-CE1A-A0AE-6EEF35365F00}"/>
            </a:ext>
          </a:extLst>
        </p:cNvPr>
        <p:cNvGrpSpPr/>
        <p:nvPr/>
      </p:nvGrpSpPr>
      <p:grpSpPr>
        <a:xfrm>
          <a:off x="0" y="0"/>
          <a:ext cx="0" cy="0"/>
          <a:chOff x="0" y="0"/>
          <a:chExt cx="0" cy="0"/>
        </a:xfrm>
      </p:grpSpPr>
      <p:grpSp>
        <p:nvGrpSpPr>
          <p:cNvPr id="2" name="object 3">
            <a:extLst>
              <a:ext uri="{FF2B5EF4-FFF2-40B4-BE49-F238E27FC236}">
                <a16:creationId xmlns="" xmlns:a16="http://schemas.microsoft.com/office/drawing/2014/main" id="{D7B9191B-FE96-8A59-9690-2C061E758CB3}"/>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 xmlns:a16="http://schemas.microsoft.com/office/drawing/2014/main" id="{20D78732-F9B9-1FDA-D8E5-B64B1742716B}"/>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 xmlns:a16="http://schemas.microsoft.com/office/drawing/2014/main" id="{0F82D761-8FA6-96D2-9CDC-DFD4213896D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 xmlns:a16="http://schemas.microsoft.com/office/drawing/2014/main" id="{678599C3-BD7C-742E-28E2-F7E1A4CB43D8}"/>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 xmlns:a16="http://schemas.microsoft.com/office/drawing/2014/main" id="{9F6FA399-08A4-A0BD-F528-C5D21B7052B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 xmlns:a16="http://schemas.microsoft.com/office/drawing/2014/main" id="{8F364F5D-D793-1E9D-BAE2-D5AEB2FAA6EF}"/>
              </a:ext>
            </a:extLst>
          </p:cNvPr>
          <p:cNvSpPr txBox="1">
            <a:spLocks noGrp="1"/>
          </p:cNvSpPr>
          <p:nvPr>
            <p:ph type="title"/>
          </p:nvPr>
        </p:nvSpPr>
        <p:spPr>
          <a:xfrm>
            <a:off x="3886200" y="416480"/>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 xmlns:a16="http://schemas.microsoft.com/office/drawing/2014/main" id="{3FA4B9F1-F58E-6088-7BFB-C923676C0FFD}"/>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 xmlns:a16="http://schemas.microsoft.com/office/drawing/2014/main" id="{DFDFF7E8-2D7E-EE44-718C-EFE70C9A2E40}"/>
              </a:ext>
            </a:extLst>
          </p:cNvPr>
          <p:cNvSpPr txBox="1"/>
          <p:nvPr/>
        </p:nvSpPr>
        <p:spPr>
          <a:xfrm>
            <a:off x="990600" y="1449777"/>
            <a:ext cx="8763000" cy="1200329"/>
          </a:xfrm>
          <a:prstGeom prst="rect">
            <a:avLst/>
          </a:prstGeom>
          <a:noFill/>
        </p:spPr>
        <p:txBody>
          <a:bodyPr wrap="square">
            <a:spAutoFit/>
          </a:bodyPr>
          <a:lstStyle/>
          <a:p>
            <a:r>
              <a:rPr lang="en-IN" b="1" u="sng" dirty="0" smtClean="0"/>
              <a:t>Update Password</a:t>
            </a:r>
            <a:r>
              <a:rPr lang="en-IN" sz="1800" b="1" u="sng" dirty="0" smtClean="0"/>
              <a:t> </a:t>
            </a:r>
            <a:r>
              <a:rPr lang="en-IN" sz="1800" b="1" u="sng" dirty="0"/>
              <a:t>Window:</a:t>
            </a:r>
            <a:endParaRPr lang="en-IN" sz="1800" dirty="0"/>
          </a:p>
          <a:p>
            <a:r>
              <a:rPr lang="en-IN" sz="1800" b="1" dirty="0"/>
              <a:t> </a:t>
            </a:r>
            <a:endParaRPr lang="en-IN" sz="1800" dirty="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This window allows users to securely update their password by verifying the old password and entering a new one</a:t>
            </a:r>
            <a:r>
              <a:rPr lang="en-US" dirty="0" smtClean="0"/>
              <a:t>.</a:t>
            </a:r>
            <a:endParaRPr lang="en-IN" sz="1800" dirty="0">
              <a:latin typeface="Times New Roman" pitchFamily="18" charset="0"/>
              <a:cs typeface="Times New Roman" pitchFamily="18" charset="0"/>
            </a:endParaRPr>
          </a:p>
        </p:txBody>
      </p:sp>
      <p:pic>
        <p:nvPicPr>
          <p:cNvPr id="13314" name="Picture 2"/>
          <p:cNvPicPr>
            <a:picLocks noChangeAspect="1" noChangeArrowheads="1"/>
          </p:cNvPicPr>
          <p:nvPr/>
        </p:nvPicPr>
        <p:blipFill>
          <a:blip r:embed="rId7"/>
          <a:srcRect/>
          <a:stretch>
            <a:fillRect/>
          </a:stretch>
        </p:blipFill>
        <p:spPr bwMode="auto">
          <a:xfrm>
            <a:off x="1295400" y="2743201"/>
            <a:ext cx="7238999" cy="4648200"/>
          </a:xfrm>
          <a:prstGeom prst="rect">
            <a:avLst/>
          </a:prstGeom>
          <a:noFill/>
          <a:ln w="9525">
            <a:noFill/>
            <a:miter lim="800000"/>
            <a:headEnd/>
            <a:tailEnd/>
          </a:ln>
          <a:effectLst/>
        </p:spPr>
      </p:pic>
    </p:spTree>
    <p:extLst>
      <p:ext uri="{BB962C8B-B14F-4D97-AF65-F5344CB8AC3E}">
        <p14:creationId xmlns="" xmlns:p14="http://schemas.microsoft.com/office/powerpoint/2010/main" val="40492491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F566B15-FBBA-88E4-439B-3760D86B920E}"/>
            </a:ext>
          </a:extLst>
        </p:cNvPr>
        <p:cNvGrpSpPr/>
        <p:nvPr/>
      </p:nvGrpSpPr>
      <p:grpSpPr>
        <a:xfrm>
          <a:off x="0" y="0"/>
          <a:ext cx="0" cy="0"/>
          <a:chOff x="0" y="0"/>
          <a:chExt cx="0" cy="0"/>
        </a:xfrm>
      </p:grpSpPr>
      <p:sp>
        <p:nvSpPr>
          <p:cNvPr id="6" name="TextBox 5">
            <a:extLst>
              <a:ext uri="{FF2B5EF4-FFF2-40B4-BE49-F238E27FC236}">
                <a16:creationId xmlns="" xmlns:a16="http://schemas.microsoft.com/office/drawing/2014/main" id="{0E93131E-D2BB-EC5C-2A95-924FDF20D02E}"/>
              </a:ext>
            </a:extLst>
          </p:cNvPr>
          <p:cNvSpPr txBox="1"/>
          <p:nvPr/>
        </p:nvSpPr>
        <p:spPr>
          <a:xfrm>
            <a:off x="314911" y="1143000"/>
            <a:ext cx="9448800" cy="5940088"/>
          </a:xfrm>
          <a:prstGeom prst="rect">
            <a:avLst/>
          </a:prstGeom>
          <a:noFill/>
        </p:spPr>
        <p:txBody>
          <a:bodyPr wrap="square" rtlCol="0">
            <a:spAutoFit/>
          </a:bodyPr>
          <a:lstStyle/>
          <a:p>
            <a:pPr algn="just">
              <a:lnSpc>
                <a:spcPct val="150000"/>
              </a:lnSpc>
            </a:pPr>
            <a:r>
              <a:rPr lang="en-US" sz="2000" dirty="0" smtClean="0">
                <a:latin typeface="Times New Roman" pitchFamily="18" charset="0"/>
                <a:cs typeface="Times New Roman" pitchFamily="18" charset="0"/>
              </a:rPr>
              <a:t>The Course Registration System developed in this project provides basic functionalities for managing student registrations and course details. However, the system can be further enhanced by adding advanced features to improve its functionality and usability. Some possible future enhancements include:</a:t>
            </a:r>
          </a:p>
          <a:p>
            <a:pPr algn="just">
              <a:lnSpc>
                <a:spcPct val="150000"/>
              </a:lnSpc>
            </a:pPr>
            <a:r>
              <a:rPr lang="en-US" sz="2000" dirty="0" smtClean="0"/>
              <a:t>•    </a:t>
            </a:r>
            <a:r>
              <a:rPr lang="en-US" sz="2000" b="1" dirty="0" smtClean="0"/>
              <a:t>Online Payment Integration:</a:t>
            </a:r>
          </a:p>
          <a:p>
            <a:r>
              <a:rPr lang="en-IN" sz="2000" dirty="0"/>
              <a:t>	</a:t>
            </a:r>
            <a:r>
              <a:rPr lang="en-US" sz="2000" dirty="0" smtClean="0">
                <a:latin typeface="Times New Roman" pitchFamily="18" charset="0"/>
                <a:cs typeface="Times New Roman" pitchFamily="18" charset="0"/>
              </a:rPr>
              <a:t>Adding secure payment gateways for real-time course fee transactions.</a:t>
            </a:r>
          </a:p>
          <a:p>
            <a:pPr marL="342900" lvl="0" indent="-342900" algn="just">
              <a:lnSpc>
                <a:spcPct val="150000"/>
              </a:lnSpc>
              <a:buFont typeface="Arial" panose="020B0604020202020204" pitchFamily="34" charset="0"/>
              <a:buChar char="•"/>
            </a:pPr>
            <a:r>
              <a:rPr lang="en-US" sz="2000" b="1" dirty="0" smtClean="0"/>
              <a:t>Notification System:</a:t>
            </a:r>
            <a:r>
              <a:rPr lang="en-IN" sz="2000" dirty="0"/>
              <a:t>	</a:t>
            </a:r>
            <a:endParaRPr lang="en-IN" sz="2000" dirty="0" smtClean="0"/>
          </a:p>
          <a:p>
            <a:pPr marL="342900" lvl="0" indent="-342900" algn="just">
              <a:lnSpc>
                <a:spcPct val="150000"/>
              </a:lnSpc>
            </a:pPr>
            <a:r>
              <a:rPr lang="en-US" sz="2000" dirty="0" smtClean="0">
                <a:latin typeface="Times New Roman" pitchFamily="18" charset="0"/>
                <a:cs typeface="Times New Roman" pitchFamily="18" charset="0"/>
              </a:rPr>
              <a:t>             Sending email/SMS notifications for registration confirmation and updates.</a:t>
            </a:r>
            <a:endParaRPr lang="en-IN" sz="2000" dirty="0">
              <a:latin typeface="Times New Roman" pitchFamily="18" charset="0"/>
              <a:cs typeface="Times New Roman" pitchFamily="18" charset="0"/>
            </a:endParaRPr>
          </a:p>
          <a:p>
            <a:pPr marL="342900" lvl="0" indent="-342900" algn="just">
              <a:lnSpc>
                <a:spcPct val="150000"/>
              </a:lnSpc>
              <a:buFont typeface="Arial" panose="020B0604020202020204" pitchFamily="34" charset="0"/>
              <a:buChar char="•"/>
            </a:pPr>
            <a:r>
              <a:rPr lang="en-IN" sz="2000" b="1" dirty="0"/>
              <a:t>Web-Based Application:</a:t>
            </a:r>
          </a:p>
          <a:p>
            <a:pPr algn="just">
              <a:lnSpc>
                <a:spcPct val="150000"/>
              </a:lnSpc>
            </a:pPr>
            <a:r>
              <a:rPr lang="en-IN" sz="2000" dirty="0"/>
              <a:t>	</a:t>
            </a:r>
            <a:r>
              <a:rPr lang="en-US" sz="2000" dirty="0" smtClean="0">
                <a:latin typeface="Times New Roman" pitchFamily="18" charset="0"/>
                <a:cs typeface="Times New Roman" pitchFamily="18" charset="0"/>
              </a:rPr>
              <a:t>Converting the desktop application into a web-based system for remote access.</a:t>
            </a:r>
          </a:p>
          <a:p>
            <a:pPr algn="just">
              <a:lnSpc>
                <a:spcPct val="150000"/>
              </a:lnSpc>
            </a:pPr>
            <a:r>
              <a:rPr lang="en-US" sz="2000" dirty="0" smtClean="0"/>
              <a:t>•    </a:t>
            </a:r>
            <a:r>
              <a:rPr lang="en-US" sz="2000" b="1" dirty="0" smtClean="0"/>
              <a:t>Course Recommendation System:</a:t>
            </a:r>
          </a:p>
          <a:p>
            <a:pPr algn="just">
              <a:lnSpc>
                <a:spcPct val="150000"/>
              </a:lnSpc>
            </a:pPr>
            <a:r>
              <a:rPr lang="en-US" sz="2000" b="1" dirty="0">
                <a:latin typeface="Times New Roman" pitchFamily="18" charset="0"/>
                <a:cs typeface="Times New Roman" pitchFamily="18" charset="0"/>
              </a:rPr>
              <a:t> </a:t>
            </a:r>
            <a:r>
              <a:rPr lang="en-US" sz="2000" b="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Suggesting courses to students based on their interests and history.</a:t>
            </a:r>
          </a:p>
          <a:p>
            <a:pPr algn="just">
              <a:lnSpc>
                <a:spcPct val="150000"/>
              </a:lnSpc>
            </a:pPr>
            <a:endParaRPr lang="en-IN" sz="2000" dirty="0">
              <a:latin typeface="Times New Roman" pitchFamily="18" charset="0"/>
              <a:cs typeface="Times New Roman" pitchFamily="18" charset="0"/>
            </a:endParaRPr>
          </a:p>
        </p:txBody>
      </p:sp>
      <p:grpSp>
        <p:nvGrpSpPr>
          <p:cNvPr id="7" name="object 3">
            <a:extLst>
              <a:ext uri="{FF2B5EF4-FFF2-40B4-BE49-F238E27FC236}">
                <a16:creationId xmlns="" xmlns:a16="http://schemas.microsoft.com/office/drawing/2014/main" id="{2AA4C980-B3A7-207C-41C1-E5E20AC1774F}"/>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 xmlns:a16="http://schemas.microsoft.com/office/drawing/2014/main" id="{FCE0C84F-6254-D24F-D561-30DE987BE354}"/>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 xmlns:a16="http://schemas.microsoft.com/office/drawing/2014/main" id="{7909B96B-5C39-8043-CA2D-5B828EFA7574}"/>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 xmlns:a16="http://schemas.microsoft.com/office/drawing/2014/main" id="{C5015D36-BC2F-3B81-753E-F473E84B785D}"/>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 xmlns:a16="http://schemas.microsoft.com/office/drawing/2014/main" id="{F2E63626-00F9-C9BD-F925-C51513AE50EF}"/>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 xmlns:a16="http://schemas.microsoft.com/office/drawing/2014/main" id="{D4D54D4E-EE1A-E311-1FB3-DF54075DFCDF}"/>
              </a:ext>
            </a:extLst>
          </p:cNvPr>
          <p:cNvSpPr txBox="1">
            <a:spLocks noGrp="1"/>
          </p:cNvSpPr>
          <p:nvPr>
            <p:ph type="title"/>
          </p:nvPr>
        </p:nvSpPr>
        <p:spPr>
          <a:xfrm>
            <a:off x="3649027" y="438046"/>
            <a:ext cx="27603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Future Enhancements</a:t>
            </a:r>
          </a:p>
        </p:txBody>
      </p:sp>
      <p:pic>
        <p:nvPicPr>
          <p:cNvPr id="13" name="object 3">
            <a:extLst>
              <a:ext uri="{FF2B5EF4-FFF2-40B4-BE49-F238E27FC236}">
                <a16:creationId xmlns="" xmlns:a16="http://schemas.microsoft.com/office/drawing/2014/main" id="{A2987431-337A-DB3D-5560-70B732DBEDE6}"/>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 xmlns:p14="http://schemas.microsoft.com/office/powerpoint/2010/main" val="12187896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2502E41-7E6E-9AB7-4311-D58503EE4565}"/>
            </a:ext>
          </a:extLst>
        </p:cNvPr>
        <p:cNvGrpSpPr/>
        <p:nvPr/>
      </p:nvGrpSpPr>
      <p:grpSpPr>
        <a:xfrm>
          <a:off x="0" y="0"/>
          <a:ext cx="0" cy="0"/>
          <a:chOff x="0" y="0"/>
          <a:chExt cx="0" cy="0"/>
        </a:xfrm>
      </p:grpSpPr>
      <p:sp>
        <p:nvSpPr>
          <p:cNvPr id="6" name="TextBox 5">
            <a:extLst>
              <a:ext uri="{FF2B5EF4-FFF2-40B4-BE49-F238E27FC236}">
                <a16:creationId xmlns="" xmlns:a16="http://schemas.microsoft.com/office/drawing/2014/main" id="{25376381-AD7A-228D-6305-1256490B7F5E}"/>
              </a:ext>
            </a:extLst>
          </p:cNvPr>
          <p:cNvSpPr txBox="1"/>
          <p:nvPr/>
        </p:nvSpPr>
        <p:spPr>
          <a:xfrm>
            <a:off x="304800" y="1034052"/>
            <a:ext cx="9448800" cy="6821804"/>
          </a:xfrm>
          <a:prstGeom prst="rect">
            <a:avLst/>
          </a:prstGeom>
          <a:noFill/>
        </p:spPr>
        <p:txBody>
          <a:bodyPr wrap="square" rtlCol="0">
            <a:spAutoFit/>
          </a:bodyPr>
          <a:lstStyle/>
          <a:p>
            <a:pPr>
              <a:lnSpc>
                <a:spcPct val="150000"/>
              </a:lnSpc>
            </a:pPr>
            <a:r>
              <a:rPr lang="en-IN" sz="2000" dirty="0"/>
              <a:t>The following references were used during the development of the </a:t>
            </a:r>
            <a:r>
              <a:rPr lang="en-IN" sz="2000" dirty="0" smtClean="0"/>
              <a:t>Course</a:t>
            </a:r>
            <a:r>
              <a:rPr lang="en-IN" sz="2000" dirty="0" smtClean="0"/>
              <a:t> Registration </a:t>
            </a:r>
            <a:r>
              <a:rPr lang="en-IN" sz="2000" dirty="0"/>
              <a:t>System:</a:t>
            </a:r>
          </a:p>
          <a:p>
            <a:pPr marL="714375" lvl="2" indent="-285750">
              <a:lnSpc>
                <a:spcPct val="150000"/>
              </a:lnSpc>
              <a:buFont typeface="Arial" panose="020B0604020202020204" pitchFamily="34" charset="0"/>
              <a:buChar char="•"/>
            </a:pPr>
            <a:r>
              <a:rPr lang="en-IN" b="1" dirty="0"/>
              <a:t>Herbert Schildt</a:t>
            </a:r>
            <a:r>
              <a:rPr lang="en-IN" dirty="0"/>
              <a:t>, </a:t>
            </a:r>
            <a:r>
              <a:rPr lang="en-IN" i="1" dirty="0"/>
              <a:t>Java: The Complete Reference</a:t>
            </a:r>
            <a:r>
              <a:rPr lang="en-IN" dirty="0"/>
              <a:t>, Oracle Press, 11th Edition.</a:t>
            </a:r>
          </a:p>
          <a:p>
            <a:pPr marL="714375" lvl="2" indent="-285750">
              <a:lnSpc>
                <a:spcPct val="150000"/>
              </a:lnSpc>
              <a:buFont typeface="Arial" panose="020B0604020202020204" pitchFamily="34" charset="0"/>
              <a:buChar char="•"/>
            </a:pPr>
            <a:r>
              <a:rPr lang="en-IN" b="1" dirty="0"/>
              <a:t>E. </a:t>
            </a:r>
            <a:r>
              <a:rPr lang="en-IN" b="1" dirty="0" err="1"/>
              <a:t>Balagurusamy</a:t>
            </a:r>
            <a:r>
              <a:rPr lang="en-IN" dirty="0"/>
              <a:t>, </a:t>
            </a:r>
            <a:r>
              <a:rPr lang="en-IN" i="1" dirty="0"/>
              <a:t>Programming with Java</a:t>
            </a:r>
            <a:r>
              <a:rPr lang="en-IN" dirty="0"/>
              <a:t>, McGraw Hill Education.</a:t>
            </a:r>
          </a:p>
          <a:p>
            <a:pPr marL="714375" lvl="2" indent="-285750">
              <a:lnSpc>
                <a:spcPct val="150000"/>
              </a:lnSpc>
              <a:buFont typeface="Arial" panose="020B0604020202020204" pitchFamily="34" charset="0"/>
              <a:buChar char="•"/>
            </a:pPr>
            <a:r>
              <a:rPr lang="en-IN" b="1" dirty="0"/>
              <a:t>Korth, Silberschatz, Sudarshan</a:t>
            </a:r>
            <a:r>
              <a:rPr lang="en-IN" dirty="0"/>
              <a:t>, </a:t>
            </a:r>
            <a:r>
              <a:rPr lang="en-IN" i="1" dirty="0"/>
              <a:t>Database System Concepts</a:t>
            </a:r>
            <a:r>
              <a:rPr lang="en-IN" dirty="0"/>
              <a:t>, McGraw Hill.</a:t>
            </a:r>
          </a:p>
          <a:p>
            <a:pPr marL="714375" lvl="2" indent="-285750">
              <a:lnSpc>
                <a:spcPct val="150000"/>
              </a:lnSpc>
              <a:buFont typeface="Arial" panose="020B0604020202020204" pitchFamily="34" charset="0"/>
              <a:buChar char="•"/>
            </a:pPr>
            <a:r>
              <a:rPr lang="en-IN" b="1" dirty="0"/>
              <a:t>Oracle Documentation</a:t>
            </a:r>
            <a:r>
              <a:rPr lang="en-IN" dirty="0"/>
              <a:t>,</a:t>
            </a:r>
            <a:br>
              <a:rPr lang="en-IN" dirty="0"/>
            </a:br>
            <a:r>
              <a:rPr lang="en-IN" u="sng" dirty="0">
                <a:hlinkClick r:id="rId2"/>
              </a:rPr>
              <a:t>https://docs.oracle.com</a:t>
            </a:r>
            <a:endParaRPr lang="en-IN" dirty="0"/>
          </a:p>
          <a:p>
            <a:pPr marL="714375" lvl="2" indent="-285750">
              <a:lnSpc>
                <a:spcPct val="150000"/>
              </a:lnSpc>
              <a:buFont typeface="Arial" panose="020B0604020202020204" pitchFamily="34" charset="0"/>
              <a:buChar char="•"/>
            </a:pPr>
            <a:r>
              <a:rPr lang="en-IN" b="1" dirty="0"/>
              <a:t>Java Documentation (Oracle)</a:t>
            </a:r>
            <a:r>
              <a:rPr lang="en-IN" dirty="0"/>
              <a:t>,</a:t>
            </a:r>
            <a:br>
              <a:rPr lang="en-IN" dirty="0"/>
            </a:br>
            <a:r>
              <a:rPr lang="en-IN" u="sng" dirty="0">
                <a:hlinkClick r:id="rId3"/>
              </a:rPr>
              <a:t>https://docs.oracle.com/javase</a:t>
            </a:r>
            <a:endParaRPr lang="en-IN" dirty="0"/>
          </a:p>
          <a:p>
            <a:pPr marL="714375" lvl="2" indent="-285750">
              <a:lnSpc>
                <a:spcPct val="150000"/>
              </a:lnSpc>
              <a:buFont typeface="Arial" panose="020B0604020202020204" pitchFamily="34" charset="0"/>
              <a:buChar char="•"/>
            </a:pPr>
            <a:r>
              <a:rPr lang="en-IN" b="1" dirty="0"/>
              <a:t>JDBC Tutorial – </a:t>
            </a:r>
            <a:r>
              <a:rPr lang="en-IN" b="1" dirty="0" err="1"/>
              <a:t>GeeksforGeeks</a:t>
            </a:r>
            <a:r>
              <a:rPr lang="en-IN" dirty="0"/>
              <a:t>,</a:t>
            </a:r>
            <a:br>
              <a:rPr lang="en-IN" dirty="0"/>
            </a:br>
            <a:r>
              <a:rPr lang="en-IN" dirty="0"/>
              <a:t>https://www.geeksforgeeks.org/jdbc/</a:t>
            </a:r>
          </a:p>
          <a:p>
            <a:pPr marL="714375" lvl="2" indent="-285750">
              <a:lnSpc>
                <a:spcPct val="150000"/>
              </a:lnSpc>
              <a:buFont typeface="Arial" panose="020B0604020202020204" pitchFamily="34" charset="0"/>
              <a:buChar char="•"/>
            </a:pPr>
            <a:r>
              <a:rPr lang="en-IN" b="1" dirty="0"/>
              <a:t>Java Swing Tutorial – </a:t>
            </a:r>
            <a:r>
              <a:rPr lang="en-IN" b="1" dirty="0" err="1"/>
              <a:t>TutorialsPoint</a:t>
            </a:r>
            <a:r>
              <a:rPr lang="en-IN" dirty="0"/>
              <a:t>,</a:t>
            </a:r>
            <a:br>
              <a:rPr lang="en-IN" dirty="0"/>
            </a:br>
            <a:r>
              <a:rPr lang="en-IN" dirty="0"/>
              <a:t>https://www.tutorialspoint.com/java_swing</a:t>
            </a:r>
          </a:p>
          <a:p>
            <a:pPr marL="714375" lvl="2" indent="-285750">
              <a:lnSpc>
                <a:spcPct val="150000"/>
              </a:lnSpc>
              <a:buFont typeface="Arial" panose="020B0604020202020204" pitchFamily="34" charset="0"/>
              <a:buChar char="•"/>
            </a:pPr>
            <a:r>
              <a:rPr lang="en-IN" b="1" dirty="0"/>
              <a:t>W3Schools Java Tutorial</a:t>
            </a:r>
            <a:r>
              <a:rPr lang="en-IN" dirty="0"/>
              <a:t>,</a:t>
            </a:r>
            <a:br>
              <a:rPr lang="en-IN" dirty="0"/>
            </a:br>
            <a:r>
              <a:rPr lang="en-IN" u="sng" dirty="0">
                <a:hlinkClick r:id="rId4"/>
              </a:rPr>
              <a:t>https://www.w3schools.com/java/</a:t>
            </a:r>
            <a:endParaRPr lang="en-IN" dirty="0"/>
          </a:p>
          <a:p>
            <a:pPr algn="just">
              <a:lnSpc>
                <a:spcPct val="150000"/>
              </a:lnSpc>
            </a:pPr>
            <a:endParaRPr lang="en-IN" sz="2000" dirty="0"/>
          </a:p>
        </p:txBody>
      </p:sp>
      <p:grpSp>
        <p:nvGrpSpPr>
          <p:cNvPr id="7" name="object 3">
            <a:extLst>
              <a:ext uri="{FF2B5EF4-FFF2-40B4-BE49-F238E27FC236}">
                <a16:creationId xmlns="" xmlns:a16="http://schemas.microsoft.com/office/drawing/2014/main" id="{32D71BC4-812B-11BE-6A6C-1CA5A91B779D}"/>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 xmlns:a16="http://schemas.microsoft.com/office/drawing/2014/main" id="{6897A887-118D-142E-FC3E-D6BE5C1E9795}"/>
                </a:ext>
              </a:extLst>
            </p:cNvPr>
            <p:cNvPicPr/>
            <p:nvPr/>
          </p:nvPicPr>
          <p:blipFill>
            <a:blip r:embed="rId5" cstate="print"/>
            <a:stretch>
              <a:fillRect/>
            </a:stretch>
          </p:blipFill>
          <p:spPr>
            <a:xfrm>
              <a:off x="2648188" y="47148"/>
              <a:ext cx="5103904" cy="1198311"/>
            </a:xfrm>
            <a:prstGeom prst="rect">
              <a:avLst/>
            </a:prstGeom>
          </p:spPr>
        </p:pic>
        <p:pic>
          <p:nvPicPr>
            <p:cNvPr id="9" name="object 5">
              <a:extLst>
                <a:ext uri="{FF2B5EF4-FFF2-40B4-BE49-F238E27FC236}">
                  <a16:creationId xmlns="" xmlns:a16="http://schemas.microsoft.com/office/drawing/2014/main" id="{A69A73B6-BAAC-6763-2263-E88C0E65C7C3}"/>
                </a:ext>
              </a:extLst>
            </p:cNvPr>
            <p:cNvPicPr/>
            <p:nvPr/>
          </p:nvPicPr>
          <p:blipFill>
            <a:blip r:embed="rId6" cstate="print"/>
            <a:stretch>
              <a:fillRect/>
            </a:stretch>
          </p:blipFill>
          <p:spPr>
            <a:xfrm>
              <a:off x="2703195" y="86439"/>
              <a:ext cx="4997767" cy="1092279"/>
            </a:xfrm>
            <a:prstGeom prst="rect">
              <a:avLst/>
            </a:prstGeom>
          </p:spPr>
        </p:pic>
        <p:pic>
          <p:nvPicPr>
            <p:cNvPr id="10" name="object 6">
              <a:extLst>
                <a:ext uri="{FF2B5EF4-FFF2-40B4-BE49-F238E27FC236}">
                  <a16:creationId xmlns="" xmlns:a16="http://schemas.microsoft.com/office/drawing/2014/main" id="{B12E086F-BA20-7EBA-DFAA-D7884D2F86C0}"/>
                </a:ext>
              </a:extLst>
            </p:cNvPr>
            <p:cNvPicPr/>
            <p:nvPr/>
          </p:nvPicPr>
          <p:blipFill>
            <a:blip r:embed="rId7" cstate="print"/>
            <a:stretch>
              <a:fillRect/>
            </a:stretch>
          </p:blipFill>
          <p:spPr>
            <a:xfrm>
              <a:off x="2828925" y="243549"/>
              <a:ext cx="4585268" cy="522565"/>
            </a:xfrm>
            <a:prstGeom prst="rect">
              <a:avLst/>
            </a:prstGeom>
          </p:spPr>
        </p:pic>
        <p:sp>
          <p:nvSpPr>
            <p:cNvPr id="11" name="object 7">
              <a:extLst>
                <a:ext uri="{FF2B5EF4-FFF2-40B4-BE49-F238E27FC236}">
                  <a16:creationId xmlns="" xmlns:a16="http://schemas.microsoft.com/office/drawing/2014/main" id="{CD22B9F6-01CA-54BB-97B5-0180CEF24C6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 xmlns:a16="http://schemas.microsoft.com/office/drawing/2014/main" id="{E459A9DA-9776-0281-AD94-A452E7257896}"/>
              </a:ext>
            </a:extLst>
          </p:cNvPr>
          <p:cNvSpPr txBox="1">
            <a:spLocks noGrp="1"/>
          </p:cNvSpPr>
          <p:nvPr>
            <p:ph type="title"/>
          </p:nvPr>
        </p:nvSpPr>
        <p:spPr>
          <a:xfrm>
            <a:off x="4194015" y="429568"/>
            <a:ext cx="27603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References</a:t>
            </a:r>
          </a:p>
        </p:txBody>
      </p:sp>
      <p:pic>
        <p:nvPicPr>
          <p:cNvPr id="13" name="object 3">
            <a:extLst>
              <a:ext uri="{FF2B5EF4-FFF2-40B4-BE49-F238E27FC236}">
                <a16:creationId xmlns="" xmlns:a16="http://schemas.microsoft.com/office/drawing/2014/main" id="{6E0266AA-A7A6-E24C-77B4-437EA2766279}"/>
              </a:ext>
            </a:extLst>
          </p:cNvPr>
          <p:cNvPicPr/>
          <p:nvPr/>
        </p:nvPicPr>
        <p:blipFill>
          <a:blip r:embed="rId8" cstate="print"/>
          <a:stretch>
            <a:fillRect/>
          </a:stretch>
        </p:blipFill>
        <p:spPr>
          <a:xfrm>
            <a:off x="290750" y="204311"/>
            <a:ext cx="1163002" cy="424338"/>
          </a:xfrm>
          <a:prstGeom prst="rect">
            <a:avLst/>
          </a:prstGeom>
        </p:spPr>
      </p:pic>
    </p:spTree>
    <p:extLst>
      <p:ext uri="{BB962C8B-B14F-4D97-AF65-F5344CB8AC3E}">
        <p14:creationId xmlns="" xmlns:p14="http://schemas.microsoft.com/office/powerpoint/2010/main" val="21820207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 xmlns:a16="http://schemas.microsoft.com/office/drawing/2014/main" id="{DABB4592-5775-79D7-4F02-0BE4F7025B51}"/>
              </a:ext>
            </a:extLst>
          </p:cNvPr>
          <p:cNvSpPr txBox="1"/>
          <p:nvPr/>
        </p:nvSpPr>
        <p:spPr>
          <a:xfrm>
            <a:off x="381000" y="1323261"/>
            <a:ext cx="9448800" cy="4708981"/>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000" dirty="0"/>
              <a:t>The </a:t>
            </a:r>
            <a:r>
              <a:rPr lang="en-US" sz="2000" dirty="0" smtClean="0"/>
              <a:t>Course</a:t>
            </a:r>
            <a:r>
              <a:rPr lang="en-US" sz="2000" dirty="0" smtClean="0"/>
              <a:t> Registration </a:t>
            </a:r>
            <a:r>
              <a:rPr lang="en-US" sz="2000" dirty="0"/>
              <a:t>System was successfully developed as a desktop application.</a:t>
            </a:r>
          </a:p>
          <a:p>
            <a:pPr marL="342900" indent="-342900" algn="just">
              <a:lnSpc>
                <a:spcPct val="150000"/>
              </a:lnSpc>
              <a:buFont typeface="Arial" panose="020B0604020202020204" pitchFamily="34" charset="0"/>
              <a:buChar char="•"/>
            </a:pPr>
            <a:r>
              <a:rPr lang="en-US" sz="2000" dirty="0"/>
              <a:t>It replaces manual record-keeping with an efficient digital solution.</a:t>
            </a:r>
          </a:p>
          <a:p>
            <a:pPr marL="342900" indent="-342900" algn="just">
              <a:lnSpc>
                <a:spcPct val="150000"/>
              </a:lnSpc>
              <a:buFont typeface="Arial" panose="020B0604020202020204" pitchFamily="34" charset="0"/>
              <a:buChar char="•"/>
            </a:pPr>
            <a:r>
              <a:rPr lang="en-US" sz="2000" dirty="0"/>
              <a:t>The system provides key functionalities like </a:t>
            </a:r>
            <a:r>
              <a:rPr lang="en-US" sz="2000" b="1" dirty="0"/>
              <a:t>adding, updating, deleting, </a:t>
            </a:r>
            <a:r>
              <a:rPr lang="en-US" sz="2000" b="1" dirty="0" smtClean="0"/>
              <a:t> </a:t>
            </a:r>
            <a:r>
              <a:rPr lang="en-US" sz="2000" b="1" dirty="0"/>
              <a:t>searching </a:t>
            </a:r>
            <a:r>
              <a:rPr lang="en-US" sz="2000" b="1" dirty="0" smtClean="0"/>
              <a:t>, and managing student and course  </a:t>
            </a:r>
            <a:r>
              <a:rPr lang="en-US" sz="2000" b="1" dirty="0"/>
              <a:t>records</a:t>
            </a:r>
            <a:r>
              <a:rPr lang="en-US" sz="2000" dirty="0"/>
              <a:t>.</a:t>
            </a:r>
          </a:p>
          <a:p>
            <a:pPr marL="342900" indent="-342900" algn="just">
              <a:lnSpc>
                <a:spcPct val="150000"/>
              </a:lnSpc>
              <a:buFont typeface="Arial" panose="020B0604020202020204" pitchFamily="34" charset="0"/>
              <a:buChar char="•"/>
            </a:pPr>
            <a:r>
              <a:rPr lang="en-US" sz="2000" dirty="0"/>
              <a:t>It ensures </a:t>
            </a:r>
            <a:r>
              <a:rPr lang="en-US" sz="2000" b="1" dirty="0"/>
              <a:t>data accuracy, security, and easy accessibility</a:t>
            </a:r>
            <a:r>
              <a:rPr lang="en-US" sz="2000" dirty="0"/>
              <a:t>.</a:t>
            </a:r>
          </a:p>
          <a:p>
            <a:pPr marL="342900" indent="-342900" algn="just">
              <a:lnSpc>
                <a:spcPct val="150000"/>
              </a:lnSpc>
              <a:buFont typeface="Arial" panose="020B0604020202020204" pitchFamily="34" charset="0"/>
              <a:buChar char="•"/>
            </a:pPr>
            <a:r>
              <a:rPr lang="en-US" sz="2000" dirty="0"/>
              <a:t>Technologies like </a:t>
            </a:r>
            <a:r>
              <a:rPr lang="en-US" sz="2000" b="1" dirty="0"/>
              <a:t>Java, Swing, JDBC, and </a:t>
            </a:r>
            <a:r>
              <a:rPr lang="en-US" sz="2000" b="1" dirty="0" err="1" smtClean="0"/>
              <a:t>MySQL</a:t>
            </a:r>
            <a:r>
              <a:rPr lang="en-US" sz="2000" b="1" dirty="0" smtClean="0"/>
              <a:t> </a:t>
            </a:r>
            <a:r>
              <a:rPr lang="en-US" sz="2000" b="1" dirty="0"/>
              <a:t>Database</a:t>
            </a:r>
            <a:r>
              <a:rPr lang="en-US" sz="2000" dirty="0"/>
              <a:t> enabled reliable performance.</a:t>
            </a:r>
          </a:p>
          <a:p>
            <a:pPr marL="342900" indent="-342900" algn="just">
              <a:lnSpc>
                <a:spcPct val="150000"/>
              </a:lnSpc>
              <a:buFont typeface="Arial" panose="020B0604020202020204" pitchFamily="34" charset="0"/>
              <a:buChar char="•"/>
            </a:pPr>
            <a:r>
              <a:rPr lang="en-US" sz="2000" dirty="0"/>
              <a:t>The system improves organizational efficiency and reduces administrative workload.</a:t>
            </a:r>
          </a:p>
        </p:txBody>
      </p:sp>
      <p:grpSp>
        <p:nvGrpSpPr>
          <p:cNvPr id="7" name="object 3">
            <a:extLst>
              <a:ext uri="{FF2B5EF4-FFF2-40B4-BE49-F238E27FC236}">
                <a16:creationId xmlns="" xmlns:a16="http://schemas.microsoft.com/office/drawing/2014/main" id="{20B8B724-A73F-F006-222B-6A4FF27EB83E}"/>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 xmlns:a16="http://schemas.microsoft.com/office/drawing/2014/main" id="{8D96FE08-6C48-29F6-B8BF-733A1FE4EFC2}"/>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 xmlns:a16="http://schemas.microsoft.com/office/drawing/2014/main" id="{F663E0BF-F2C3-9990-10F0-85152F3B7499}"/>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 xmlns:a16="http://schemas.microsoft.com/office/drawing/2014/main" id="{AF92C391-8A67-101D-C7DE-D42721562E91}"/>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 xmlns:a16="http://schemas.microsoft.com/office/drawing/2014/main" id="{5C67209A-2109-EE49-1C12-165FDE2056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 xmlns:a16="http://schemas.microsoft.com/office/drawing/2014/main" id="{F513CBE2-66AF-A982-0CC5-B24C79BA9503}"/>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CONCLUSION</a:t>
            </a:r>
          </a:p>
        </p:txBody>
      </p:sp>
      <p:pic>
        <p:nvPicPr>
          <p:cNvPr id="13" name="object 3">
            <a:extLst>
              <a:ext uri="{FF2B5EF4-FFF2-40B4-BE49-F238E27FC236}">
                <a16:creationId xmlns="" xmlns:a16="http://schemas.microsoft.com/office/drawing/2014/main" id="{A2CEDFE4-2383-831F-CDEE-1CF3B0215E16}"/>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 xmlns:p14="http://schemas.microsoft.com/office/powerpoint/2010/main" val="26941927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4F5B32A-9B14-7FA0-D59B-AF32355B7813}"/>
              </a:ext>
            </a:extLst>
          </p:cNvPr>
          <p:cNvSpPr>
            <a:spLocks noGrp="1"/>
          </p:cNvSpPr>
          <p:nvPr>
            <p:ph type="ctrTitle"/>
          </p:nvPr>
        </p:nvSpPr>
        <p:spPr>
          <a:xfrm>
            <a:off x="3200400" y="3352800"/>
            <a:ext cx="4038600" cy="738664"/>
          </a:xfrm>
        </p:spPr>
        <p:txBody>
          <a:bodyPr/>
          <a:lstStyle/>
          <a:p>
            <a:r>
              <a:rPr lang="en-IN" sz="4800" dirty="0">
                <a:solidFill>
                  <a:schemeClr val="accent6">
                    <a:lumMod val="75000"/>
                  </a:schemeClr>
                </a:solidFill>
              </a:rPr>
              <a:t>THANK YOU</a:t>
            </a:r>
          </a:p>
        </p:txBody>
      </p:sp>
      <p:pic>
        <p:nvPicPr>
          <p:cNvPr id="4" name="object 3">
            <a:extLst>
              <a:ext uri="{FF2B5EF4-FFF2-40B4-BE49-F238E27FC236}">
                <a16:creationId xmlns="" xmlns:a16="http://schemas.microsoft.com/office/drawing/2014/main" id="{82A927C3-140A-7ABC-91C2-249562DF33FB}"/>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2795</TotalTime>
  <Words>807</Words>
  <Application>Microsoft Office PowerPoint</Application>
  <PresentationFormat>Custom</PresentationFormat>
  <Paragraphs>195</Paragraphs>
  <Slides>30</Slides>
  <Notes>20</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Office Theme</vt:lpstr>
      <vt:lpstr>Java Programming Cornerstone Project Final Review</vt:lpstr>
      <vt:lpstr>Slide 2</vt:lpstr>
      <vt:lpstr>ABSTRACT</vt:lpstr>
      <vt:lpstr>Slide 4</vt:lpstr>
      <vt:lpstr>Slide 5</vt:lpstr>
      <vt:lpstr>Slide 6</vt:lpstr>
      <vt:lpstr>Database Design</vt:lpstr>
      <vt:lpstr>Database Design</vt:lpstr>
      <vt:lpstr>Database Design</vt:lpstr>
      <vt:lpstr>Database Design</vt:lpstr>
      <vt:lpstr>Database Design</vt:lpstr>
      <vt:lpstr>SYSTEM DESIGN</vt:lpstr>
      <vt:lpstr>System Implementation</vt:lpstr>
      <vt:lpstr>System Implementation</vt:lpstr>
      <vt:lpstr>System Implementation</vt:lpstr>
      <vt:lpstr>System Implementation</vt:lpstr>
      <vt:lpstr>System Implementation</vt:lpstr>
      <vt:lpstr>System Implementation</vt:lpstr>
      <vt:lpstr>System Implementation</vt:lpstr>
      <vt:lpstr>System Implementation</vt:lpstr>
      <vt:lpstr>System Implementation</vt:lpstr>
      <vt:lpstr>System Implementation</vt:lpstr>
      <vt:lpstr>System Implementation</vt:lpstr>
      <vt:lpstr>System Implementation</vt:lpstr>
      <vt:lpstr>System Implementation</vt:lpstr>
      <vt:lpstr>System Implementation</vt:lpstr>
      <vt:lpstr>Future Enhancements</vt:lpstr>
      <vt:lpstr>References</vt:lpstr>
      <vt:lpstr>CONCLUSION</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hp</cp:lastModifiedBy>
  <cp:revision>72</cp:revision>
  <cp:lastPrinted>2025-10-14T18:21:49Z</cp:lastPrinted>
  <dcterms:created xsi:type="dcterms:W3CDTF">2025-10-10T08:28:06Z</dcterms:created>
  <dcterms:modified xsi:type="dcterms:W3CDTF">2026-04-04T05:56:49Z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